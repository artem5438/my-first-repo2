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59" r:id="rId6"/>
    <p:sldId id="264" r:id="rId7"/>
    <p:sldId id="277" r:id="rId8"/>
    <p:sldId id="261" r:id="rId9"/>
    <p:sldId id="267" r:id="rId10"/>
    <p:sldId id="260" r:id="rId11"/>
    <p:sldId id="270" r:id="rId12"/>
    <p:sldId id="265" r:id="rId13"/>
    <p:sldId id="274" r:id="rId14"/>
    <p:sldId id="275" r:id="rId15"/>
    <p:sldId id="276" r:id="rId16"/>
    <p:sldId id="269" r:id="rId17"/>
    <p:sldId id="262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C7D22-FB58-447E-ACFC-07E71BDC7FB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9E79C-CEA3-4026-803B-ED20BE799F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79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9E79C-CEA3-4026-803B-ED20BE799FE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616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9E79C-CEA3-4026-803B-ED20BE799FE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363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9E79C-CEA3-4026-803B-ED20BE799FE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261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9E79C-CEA3-4026-803B-ED20BE799FE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33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Цель достигнута</a:t>
            </a:r>
          </a:p>
          <a:p>
            <a:r>
              <a:rPr lang="ru-RU" b="1" dirty="0"/>
              <a:t>Реализованы:</a:t>
            </a:r>
          </a:p>
          <a:p>
            <a:pPr lvl="1"/>
            <a:r>
              <a:rPr lang="ru-RU" dirty="0"/>
              <a:t>Надёжная БД</a:t>
            </a:r>
          </a:p>
          <a:p>
            <a:pPr lvl="1"/>
            <a:r>
              <a:rPr lang="ru-RU" dirty="0"/>
              <a:t>Безопасный </a:t>
            </a:r>
            <a:r>
              <a:rPr lang="en-US" dirty="0"/>
              <a:t>API</a:t>
            </a:r>
          </a:p>
          <a:p>
            <a:pPr lvl="1"/>
            <a:r>
              <a:rPr lang="ru-RU" dirty="0"/>
              <a:t>Автоматизация и отказоустойчивости</a:t>
            </a:r>
          </a:p>
          <a:p>
            <a:r>
              <a:rPr lang="ru-RU" b="1" dirty="0"/>
              <a:t>Возможности для развития:</a:t>
            </a:r>
          </a:p>
          <a:p>
            <a:pPr lvl="1"/>
            <a:r>
              <a:rPr lang="ru-RU" dirty="0"/>
              <a:t>Аналитика в реальном времени</a:t>
            </a:r>
          </a:p>
          <a:p>
            <a:pPr lvl="1"/>
            <a:r>
              <a:rPr lang="ru-RU" dirty="0"/>
              <a:t>Система рекомендаций</a:t>
            </a:r>
          </a:p>
          <a:p>
            <a:pPr lvl="1"/>
            <a:r>
              <a:rPr lang="ru-RU" dirty="0"/>
              <a:t>Мобильное приложение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9E79C-CEA3-4026-803B-ED20BE799FE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570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9E79C-CEA3-4026-803B-ED20BE799FE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494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76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56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0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21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53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224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00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40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86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49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98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562239C-2226-4D5F-B75C-B6C41830650F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67F27D4-6921-439A-A60A-92D4A1A30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56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0D99-4298-42A9-85EC-FFF203702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642" y="2690949"/>
            <a:ext cx="10592712" cy="1046199"/>
          </a:xfrm>
        </p:spPr>
        <p:txBody>
          <a:bodyPr>
            <a:normAutofit/>
          </a:bodyPr>
          <a:lstStyle/>
          <a:p>
            <a:r>
              <a:rPr lang="ru-RU" sz="2800" b="0" dirty="0">
                <a:latin typeface="+mn-lt"/>
              </a:rPr>
              <a:t>Курсовая работа на тему:</a:t>
            </a:r>
            <a:br>
              <a:rPr lang="ru-RU" sz="3600" b="1" dirty="0">
                <a:latin typeface="+mn-lt"/>
              </a:rPr>
            </a:br>
            <a:r>
              <a:rPr lang="ru-RU" sz="3600" b="1" dirty="0">
                <a:latin typeface="+mn-lt"/>
              </a:rPr>
              <a:t>Система управления кинотеатром «Нора»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56821F-A415-40A8-8A64-682C432B6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642" y="4688595"/>
            <a:ext cx="4106092" cy="1607702"/>
          </a:xfrm>
        </p:spPr>
        <p:txBody>
          <a:bodyPr>
            <a:noAutofit/>
          </a:bodyPr>
          <a:lstStyle/>
          <a:p>
            <a:r>
              <a:rPr lang="ru-RU" sz="2400" dirty="0"/>
              <a:t>Работу выполнили студенты группы ИС-23:</a:t>
            </a:r>
          </a:p>
          <a:p>
            <a:r>
              <a:rPr lang="ru-RU" sz="2400" dirty="0"/>
              <a:t>Бородин Артём, Киселёв Иван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A0596-050E-4EE0-B0A3-D418E76CA7E9}"/>
              </a:ext>
            </a:extLst>
          </p:cNvPr>
          <p:cNvSpPr txBox="1"/>
          <p:nvPr/>
        </p:nvSpPr>
        <p:spPr>
          <a:xfrm>
            <a:off x="1719553" y="261258"/>
            <a:ext cx="8752890" cy="21059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>
                <a:schemeClr val="dk2"/>
              </a:buClr>
              <a:buSzPct val="100000"/>
            </a:pP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</a:t>
            </a:r>
            <a:b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</a:b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Федеральное государственное бюджетное образовательное учреждение</a:t>
            </a:r>
            <a:b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</a:b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высшего образования</a:t>
            </a:r>
          </a:p>
          <a:p>
            <a:pPr lvl="0" algn="ctr">
              <a:lnSpc>
                <a:spcPct val="150000"/>
              </a:lnSpc>
              <a:spcBef>
                <a:spcPts val="800"/>
              </a:spcBef>
              <a:buClr>
                <a:schemeClr val="dk2"/>
              </a:buClr>
              <a:buSzPct val="100000"/>
            </a:pP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«Заполярный государственный университет им </a:t>
            </a:r>
            <a:r>
              <a:rPr lang="ru-RU" sz="1600" b="1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Н.М.Федоровского</a:t>
            </a: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»</a:t>
            </a:r>
          </a:p>
          <a:p>
            <a:pPr lvl="0" algn="ctr">
              <a:lnSpc>
                <a:spcPct val="150000"/>
              </a:lnSpc>
              <a:spcBef>
                <a:spcPts val="800"/>
              </a:spcBef>
              <a:buClr>
                <a:schemeClr val="dk2"/>
              </a:buClr>
              <a:buSzPct val="100000"/>
            </a:pP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Кафедра информационных систем и технологий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2175B-D058-4470-81FE-01616D0F67F4}"/>
              </a:ext>
            </a:extLst>
          </p:cNvPr>
          <p:cNvSpPr txBox="1"/>
          <p:nvPr/>
        </p:nvSpPr>
        <p:spPr>
          <a:xfrm>
            <a:off x="8640445" y="4688595"/>
            <a:ext cx="2751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Руководитель: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Варламова Татьяна Евгеньевна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291CD-04DB-4B23-89A5-F14DB25F0044}"/>
              </a:ext>
            </a:extLst>
          </p:cNvPr>
          <p:cNvSpPr txBox="1"/>
          <p:nvPr/>
        </p:nvSpPr>
        <p:spPr>
          <a:xfrm>
            <a:off x="5260352" y="6227410"/>
            <a:ext cx="1671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Норильск 2026</a:t>
            </a:r>
          </a:p>
        </p:txBody>
      </p:sp>
    </p:spTree>
    <p:extLst>
      <p:ext uri="{BB962C8B-B14F-4D97-AF65-F5344CB8AC3E}">
        <p14:creationId xmlns:p14="http://schemas.microsoft.com/office/powerpoint/2010/main" val="170266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FEFA45A-6BC8-4A68-8570-49853348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188" y="3265713"/>
            <a:ext cx="5057503" cy="2967446"/>
          </a:xfrm>
          <a:ln w="285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+mj-lt"/>
              </a:rPr>
              <a:t>Онлайн-продажи билетов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+mj-lt"/>
              </a:rPr>
              <a:t>Управления сеансами и залами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Система лояльности</a:t>
            </a:r>
            <a:endParaRPr lang="ru-RU" sz="2400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+mj-lt"/>
              </a:rPr>
              <a:t>Генерации аналитики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485A437-DFEB-48CF-ABB0-38DB165D3629}"/>
              </a:ext>
            </a:extLst>
          </p:cNvPr>
          <p:cNvSpPr txBox="1">
            <a:spLocks/>
          </p:cNvSpPr>
          <p:nvPr/>
        </p:nvSpPr>
        <p:spPr>
          <a:xfrm>
            <a:off x="618309" y="3875314"/>
            <a:ext cx="4876799" cy="2357845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endParaRPr lang="ru-RU" sz="2400" dirty="0">
              <a:latin typeface="+mj-lt"/>
            </a:endParaRPr>
          </a:p>
          <a:p>
            <a:pPr marL="45720" indent="0">
              <a:buFont typeface="Corbel" pitchFamily="34" charset="0"/>
              <a:buNone/>
            </a:pPr>
            <a:r>
              <a:rPr lang="ru-RU" sz="2400" dirty="0">
                <a:latin typeface="+mj-lt"/>
              </a:rPr>
              <a:t>Разработка полнофункциональной информационной системы кинотеатра «НОРА» на основе реляционной модели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6FB80-E79B-4D31-93A1-7441571370C7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2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CAC1043-068D-4090-AD8F-4D80E87161D4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Цель и задачи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41157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4703D3-9DC3-4608-9805-7DAE1608F5D2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3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68563D9-63A5-42B4-8EE6-0A278807A6F9}"/>
              </a:ext>
            </a:extLst>
          </p:cNvPr>
          <p:cNvSpPr txBox="1">
            <a:spLocks/>
          </p:cNvSpPr>
          <p:nvPr/>
        </p:nvSpPr>
        <p:spPr>
          <a:xfrm>
            <a:off x="3973289" y="1867989"/>
            <a:ext cx="3150321" cy="2525485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ru-RU" sz="2400" b="1" dirty="0">
                <a:latin typeface="+mj-lt"/>
              </a:rPr>
              <a:t>Кинотеатр</a:t>
            </a:r>
          </a:p>
          <a:p>
            <a:r>
              <a:rPr lang="ru-RU" sz="2400" dirty="0">
                <a:latin typeface="+mj-lt"/>
              </a:rPr>
              <a:t>Сеансы</a:t>
            </a:r>
          </a:p>
          <a:p>
            <a:r>
              <a:rPr lang="ru-RU" sz="2400" dirty="0">
                <a:latin typeface="+mj-lt"/>
              </a:rPr>
              <a:t>Фильмы</a:t>
            </a:r>
          </a:p>
          <a:p>
            <a:r>
              <a:rPr lang="ru-RU" sz="2400" dirty="0">
                <a:latin typeface="+mj-lt"/>
              </a:rPr>
              <a:t>Залы</a:t>
            </a:r>
          </a:p>
          <a:p>
            <a:r>
              <a:rPr lang="ru-RU" sz="2400" dirty="0">
                <a:latin typeface="+mj-lt"/>
              </a:rPr>
              <a:t>Билеты </a:t>
            </a:r>
          </a:p>
          <a:p>
            <a:r>
              <a:rPr lang="ru-RU" sz="2400" dirty="0">
                <a:latin typeface="+mj-lt"/>
              </a:rPr>
              <a:t>Пользователи</a:t>
            </a:r>
          </a:p>
          <a:p>
            <a:r>
              <a:rPr lang="ru-RU" sz="2400" dirty="0">
                <a:latin typeface="+mj-lt"/>
              </a:rPr>
              <a:t>Бронирование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ECF1C66-88D6-41AA-9738-C5CE40236C83}"/>
              </a:ext>
            </a:extLst>
          </p:cNvPr>
          <p:cNvSpPr txBox="1">
            <a:spLocks/>
          </p:cNvSpPr>
          <p:nvPr/>
        </p:nvSpPr>
        <p:spPr>
          <a:xfrm>
            <a:off x="498568" y="3130732"/>
            <a:ext cx="3150322" cy="291737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ru-RU" sz="2400" b="1" dirty="0">
                <a:latin typeface="+mj-lt"/>
              </a:rPr>
              <a:t>Участники</a:t>
            </a:r>
          </a:p>
          <a:p>
            <a:r>
              <a:rPr lang="ru-RU" sz="2400" dirty="0">
                <a:latin typeface="+mj-lt"/>
              </a:rPr>
              <a:t>Администраторы</a:t>
            </a:r>
          </a:p>
          <a:p>
            <a:r>
              <a:rPr lang="ru-RU" sz="2400" dirty="0">
                <a:latin typeface="+mj-lt"/>
              </a:rPr>
              <a:t>Зрители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3AE92D34-C771-4CE9-A75A-662C659354E6}"/>
              </a:ext>
            </a:extLst>
          </p:cNvPr>
          <p:cNvSpPr txBox="1">
            <a:spLocks/>
          </p:cNvSpPr>
          <p:nvPr/>
        </p:nvSpPr>
        <p:spPr>
          <a:xfrm>
            <a:off x="7448009" y="3130732"/>
            <a:ext cx="3150323" cy="291737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Corbel" pitchFamily="34" charset="0"/>
              <a:buNone/>
            </a:pPr>
            <a:r>
              <a:rPr lang="ru-RU" sz="2400" b="1" dirty="0">
                <a:latin typeface="+mj-lt"/>
              </a:rPr>
              <a:t>Основные процессы</a:t>
            </a:r>
          </a:p>
          <a:p>
            <a:r>
              <a:rPr lang="ru-RU" sz="2400" dirty="0">
                <a:latin typeface="+mj-lt"/>
              </a:rPr>
              <a:t>Продажа билетов</a:t>
            </a:r>
          </a:p>
          <a:p>
            <a:r>
              <a:rPr lang="ru-RU" sz="2400" dirty="0">
                <a:latin typeface="+mj-lt"/>
              </a:rPr>
              <a:t>Составление расписания</a:t>
            </a:r>
          </a:p>
          <a:p>
            <a:r>
              <a:rPr lang="ru-RU" sz="2400" dirty="0">
                <a:latin typeface="+mj-lt"/>
              </a:rPr>
              <a:t>Аналитика посещаемости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43CFF0D-52FF-479B-852B-37EEAE3D4139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Предметная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77213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C8F682B-BD12-42C4-B0E0-B09F0E0B02DD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Патентный поиск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82C46BE-E47C-4962-9F7D-DDCCF9176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18207"/>
              </p:ext>
            </p:extLst>
          </p:nvPr>
        </p:nvGraphicFramePr>
        <p:xfrm>
          <a:off x="567146" y="1271452"/>
          <a:ext cx="11057708" cy="503805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64427">
                  <a:extLst>
                    <a:ext uri="{9D8B030D-6E8A-4147-A177-3AD203B41FA5}">
                      <a16:colId xmlns:a16="http://schemas.microsoft.com/office/drawing/2014/main" val="2300613891"/>
                    </a:ext>
                  </a:extLst>
                </a:gridCol>
                <a:gridCol w="2764427">
                  <a:extLst>
                    <a:ext uri="{9D8B030D-6E8A-4147-A177-3AD203B41FA5}">
                      <a16:colId xmlns:a16="http://schemas.microsoft.com/office/drawing/2014/main" val="2260963021"/>
                    </a:ext>
                  </a:extLst>
                </a:gridCol>
                <a:gridCol w="2764427">
                  <a:extLst>
                    <a:ext uri="{9D8B030D-6E8A-4147-A177-3AD203B41FA5}">
                      <a16:colId xmlns:a16="http://schemas.microsoft.com/office/drawing/2014/main" val="1882518320"/>
                    </a:ext>
                  </a:extLst>
                </a:gridCol>
                <a:gridCol w="2764427">
                  <a:extLst>
                    <a:ext uri="{9D8B030D-6E8A-4147-A177-3AD203B41FA5}">
                      <a16:colId xmlns:a16="http://schemas.microsoft.com/office/drawing/2014/main" val="1706707745"/>
                    </a:ext>
                  </a:extLst>
                </a:gridCol>
              </a:tblGrid>
              <a:tr h="667751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effectLst/>
                        </a:rPr>
                        <a:t>Критерий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</a:rPr>
                        <a:t>Veezi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</a:rPr>
                        <a:t>RTS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</a:rPr>
                        <a:t>Cinema Cloud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636519"/>
                  </a:ext>
                </a:extLst>
              </a:tr>
              <a:tr h="864620"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</a:rPr>
                        <a:t>Система лояльности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ru-RU" sz="2000" b="0" i="0" dirty="0">
                          <a:effectLst/>
                        </a:rPr>
                        <a:t> Нет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✅</a:t>
                      </a:r>
                      <a:r>
                        <a:rPr lang="ru-RU" sz="2000" b="0" i="0" dirty="0">
                          <a:effectLst/>
                        </a:rPr>
                        <a:t> Встроенная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✅</a:t>
                      </a:r>
                      <a:r>
                        <a:rPr lang="ru-RU" sz="2000" b="0" i="0" dirty="0">
                          <a:effectLst/>
                        </a:rPr>
                        <a:t> Через </a:t>
                      </a:r>
                      <a:r>
                        <a:rPr lang="en-US" sz="2000" b="0" i="0" dirty="0">
                          <a:effectLst/>
                        </a:rPr>
                        <a:t>CRM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690626"/>
                  </a:ext>
                </a:extLst>
              </a:tr>
              <a:tr h="1168562"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</a:rPr>
                        <a:t>Локальное развертывание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ru-RU" sz="2000" b="0" i="0" dirty="0">
                          <a:effectLst/>
                        </a:rPr>
                        <a:t> Только облако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✅</a:t>
                      </a:r>
                      <a:r>
                        <a:rPr lang="ru-RU" sz="2000" b="0" i="0" dirty="0">
                          <a:effectLst/>
                        </a:rPr>
                        <a:t> Облако + локально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ru-RU" sz="2000" b="0" i="0" dirty="0">
                          <a:effectLst/>
                        </a:rPr>
                        <a:t> Только облако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84507"/>
                  </a:ext>
                </a:extLst>
              </a:tr>
              <a:tr h="1168562"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</a:rPr>
                        <a:t>Гибкость кастомизации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0000"/>
                          </a:solidFill>
                          <a:effectLst/>
                        </a:rPr>
                        <a:t>❌</a:t>
                      </a:r>
                      <a:r>
                        <a:rPr lang="ru-RU" sz="2000" b="0" i="0" dirty="0">
                          <a:effectLst/>
                        </a:rPr>
                        <a:t> Низкая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✅</a:t>
                      </a:r>
                      <a:r>
                        <a:rPr lang="ru-RU" sz="2000" b="0" i="0" dirty="0">
                          <a:effectLst/>
                        </a:rPr>
                        <a:t> Высокая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FF00"/>
                          </a:solidFill>
                          <a:effectLst/>
                        </a:rPr>
                        <a:t>⚠️</a:t>
                      </a:r>
                      <a:r>
                        <a:rPr lang="ru-RU" sz="2000" b="0" i="0" dirty="0">
                          <a:effectLst/>
                        </a:rPr>
                        <a:t> Средняя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020760"/>
                  </a:ext>
                </a:extLst>
              </a:tr>
              <a:tr h="1168562"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</a:rPr>
                        <a:t>Стоимость для 1-3 залов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✅</a:t>
                      </a:r>
                      <a:r>
                        <a:rPr lang="ru-RU" sz="2000" b="0" i="0" dirty="0">
                          <a:effectLst/>
                        </a:rPr>
                        <a:t> Низкая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0000"/>
                          </a:solidFill>
                          <a:effectLst/>
                        </a:rPr>
                        <a:t>❌❌</a:t>
                      </a:r>
                      <a:r>
                        <a:rPr lang="ru-RU" sz="2000" b="0" i="0" dirty="0">
                          <a:effectLst/>
                        </a:rPr>
                        <a:t> Очень высокая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dirty="0">
                          <a:solidFill>
                            <a:srgbClr val="FFFF00"/>
                          </a:solidFill>
                          <a:effectLst/>
                        </a:rPr>
                        <a:t>⚠️</a:t>
                      </a:r>
                      <a:r>
                        <a:rPr lang="ru-RU" sz="2000" b="0" i="0" dirty="0">
                          <a:effectLst/>
                        </a:rPr>
                        <a:t> Средняя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884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25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6A83CC-6BCF-46EF-8871-391E98BBAD60}"/>
              </a:ext>
            </a:extLst>
          </p:cNvPr>
          <p:cNvSpPr/>
          <p:nvPr/>
        </p:nvSpPr>
        <p:spPr>
          <a:xfrm>
            <a:off x="453742" y="1127369"/>
            <a:ext cx="11234058" cy="529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u="sng" dirty="0">
                <a:solidFill>
                  <a:schemeClr val="accent1"/>
                </a:solidFill>
              </a:rPr>
              <a:t>BPMN</a:t>
            </a:r>
            <a:endParaRPr lang="ru-RU" sz="5400" b="1" u="sng" dirty="0">
              <a:solidFill>
                <a:schemeClr val="accent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B6BC6B-2906-4BDC-A609-CBA4C188D11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05394" y="1280704"/>
            <a:ext cx="10730759" cy="495463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FDD44D-16C6-45D9-A481-8EB013915C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05394" y="1280703"/>
            <a:ext cx="10730758" cy="49546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695692-70CD-4902-B29F-D4BC0238F5E0}"/>
              </a:ext>
            </a:extLst>
          </p:cNvPr>
          <p:cNvPicPr/>
          <p:nvPr/>
        </p:nvPicPr>
        <p:blipFill rotWithShape="1">
          <a:blip r:embed="rId5"/>
          <a:srcRect r="2439"/>
          <a:stretch/>
        </p:blipFill>
        <p:spPr bwMode="auto">
          <a:xfrm>
            <a:off x="705393" y="1200150"/>
            <a:ext cx="10730757" cy="50351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9A0D90-E666-4F6D-8D4B-C1239A85950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55846" y="1501820"/>
            <a:ext cx="10730757" cy="473351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60A7BD-9D1B-41D9-A40A-2A17961F7841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55842" y="1501818"/>
            <a:ext cx="10730757" cy="47335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509B26-E06E-48F0-B104-EC4A614D490D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4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87C4BBE-EA78-4DA6-9D6F-2EF2B07CCA2B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Системный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264927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9F6F60E-23F1-40D2-8F6A-7A1593A04A66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Первоначальная архитектура базы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B98D32-E34D-4038-BB6C-F65738FC2620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7</a:t>
            </a: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59F3F9-751F-4852-8C9C-FE7436026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77" y="1105989"/>
            <a:ext cx="9292046" cy="549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38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8A0FB5-FC0B-47B0-A60E-05310B335F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10445" y="1215251"/>
            <a:ext cx="7271657" cy="5207319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95B5D88-137B-42F2-8773-6A4C40C4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48343"/>
            <a:ext cx="9875520" cy="627017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Логическая модель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39C02A-86EF-41F0-89A5-37EDA35BB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98" y="1662072"/>
            <a:ext cx="2786742" cy="4313676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40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5E7FA-5470-492C-8338-C30D2DC5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48343"/>
            <a:ext cx="9875520" cy="627017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Физическая модель базы данных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47EADE-90A4-415E-B087-37183E0FFD72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6</a:t>
            </a: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DED94F-B8DB-4D09-ACD1-DDE489DC57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32961" y="1116687"/>
            <a:ext cx="6653347" cy="539297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703E6E-FE69-4E9F-B154-F6532B3F7DF9}"/>
              </a:ext>
            </a:extLst>
          </p:cNvPr>
          <p:cNvSpPr txBox="1"/>
          <p:nvPr/>
        </p:nvSpPr>
        <p:spPr>
          <a:xfrm>
            <a:off x="905692" y="1363807"/>
            <a:ext cx="293658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Таблицы: 13</a:t>
            </a:r>
          </a:p>
          <a:p>
            <a:r>
              <a:rPr lang="ru-RU" b="1" dirty="0">
                <a:solidFill>
                  <a:schemeClr val="accent1"/>
                </a:solidFill>
              </a:rPr>
              <a:t>Индексы: </a:t>
            </a:r>
            <a:r>
              <a:rPr lang="en-US" b="1" dirty="0">
                <a:solidFill>
                  <a:schemeClr val="accent1"/>
                </a:solidFill>
              </a:rPr>
              <a:t>30</a:t>
            </a:r>
            <a:r>
              <a:rPr lang="ru-RU" b="1" dirty="0">
                <a:solidFill>
                  <a:schemeClr val="accent1"/>
                </a:solidFill>
              </a:rPr>
              <a:t> </a:t>
            </a:r>
          </a:p>
          <a:p>
            <a:r>
              <a:rPr lang="ru-RU" b="1" dirty="0">
                <a:solidFill>
                  <a:schemeClr val="accent1"/>
                </a:solidFill>
              </a:rPr>
              <a:t>Представления: 5</a:t>
            </a:r>
          </a:p>
          <a:p>
            <a:r>
              <a:rPr lang="ru-RU" b="1" dirty="0">
                <a:solidFill>
                  <a:schemeClr val="accent1"/>
                </a:solidFill>
              </a:rPr>
              <a:t>Триггеры: 5</a:t>
            </a:r>
          </a:p>
          <a:p>
            <a:r>
              <a:rPr lang="ru-RU" b="1" dirty="0">
                <a:solidFill>
                  <a:schemeClr val="accent1"/>
                </a:solidFill>
              </a:rPr>
              <a:t>Функции: 5</a:t>
            </a:r>
          </a:p>
        </p:txBody>
      </p:sp>
    </p:spTree>
    <p:extLst>
      <p:ext uri="{BB962C8B-B14F-4D97-AF65-F5344CB8AC3E}">
        <p14:creationId xmlns:p14="http://schemas.microsoft.com/office/powerpoint/2010/main" val="385757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4B9FC-E216-4862-BA4B-F20FD0AFF379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8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BF5CC-B2D4-49E2-848E-8CCF38DD1F01}"/>
              </a:ext>
            </a:extLst>
          </p:cNvPr>
          <p:cNvSpPr txBox="1"/>
          <p:nvPr/>
        </p:nvSpPr>
        <p:spPr>
          <a:xfrm>
            <a:off x="714103" y="1341691"/>
            <a:ext cx="4853940" cy="48936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</a:rPr>
              <a:t>✅Чёткая нормализация</a:t>
            </a:r>
            <a:r>
              <a:rPr lang="ru-RU" sz="2400" dirty="0">
                <a:solidFill>
                  <a:schemeClr val="accent1"/>
                </a:solidFill>
              </a:rPr>
              <a:t>: данные не дублируются, соответствуют 3НФ</a:t>
            </a:r>
          </a:p>
          <a:p>
            <a:endParaRPr lang="ru-RU" sz="2400" dirty="0">
              <a:solidFill>
                <a:schemeClr val="accent1"/>
              </a:solidFill>
            </a:endParaRPr>
          </a:p>
          <a:p>
            <a:r>
              <a:rPr lang="ru-RU" sz="2400" b="1" dirty="0">
                <a:solidFill>
                  <a:schemeClr val="accent1"/>
                </a:solidFill>
              </a:rPr>
              <a:t>🔗Целостность связей</a:t>
            </a:r>
            <a:r>
              <a:rPr lang="ru-RU" sz="2400" dirty="0">
                <a:solidFill>
                  <a:schemeClr val="accent1"/>
                </a:solidFill>
              </a:rPr>
              <a:t>: использование </a:t>
            </a:r>
            <a:r>
              <a:rPr lang="en-US" sz="2400" dirty="0">
                <a:solidFill>
                  <a:schemeClr val="accent1"/>
                </a:solidFill>
              </a:rPr>
              <a:t>ON DELETE RESTRICT/CASCADE</a:t>
            </a:r>
            <a:endParaRPr lang="ru-RU" sz="2400" dirty="0">
              <a:solidFill>
                <a:schemeClr val="accent1"/>
              </a:solidFill>
            </a:endParaRP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ru-RU" sz="2400" b="1" dirty="0">
                <a:solidFill>
                  <a:schemeClr val="accent1"/>
                </a:solidFill>
              </a:rPr>
              <a:t>🛡️Ограничения</a:t>
            </a:r>
            <a:r>
              <a:rPr lang="ru-RU" sz="2400" dirty="0">
                <a:solidFill>
                  <a:schemeClr val="accent1"/>
                </a:solidFill>
              </a:rPr>
              <a:t>: функции и </a:t>
            </a:r>
            <a:r>
              <a:rPr lang="en-US" sz="2400" dirty="0">
                <a:solidFill>
                  <a:schemeClr val="accent1"/>
                </a:solidFill>
              </a:rPr>
              <a:t>UNIQUE</a:t>
            </a:r>
            <a:endParaRPr lang="ru-RU" sz="2400" dirty="0">
              <a:solidFill>
                <a:schemeClr val="accent1"/>
              </a:solidFill>
            </a:endParaRP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⏱️</a:t>
            </a:r>
            <a:r>
              <a:rPr lang="ru-RU" sz="2400" b="1" dirty="0">
                <a:solidFill>
                  <a:schemeClr val="accent1"/>
                </a:solidFill>
              </a:rPr>
              <a:t>Автоматика</a:t>
            </a:r>
            <a:r>
              <a:rPr lang="ru-RU" sz="2400" dirty="0">
                <a:solidFill>
                  <a:schemeClr val="accent1"/>
                </a:solidFill>
              </a:rPr>
              <a:t>: триггеры обновляют поля </a:t>
            </a:r>
            <a:r>
              <a:rPr lang="en-US" sz="2400" dirty="0" err="1">
                <a:solidFill>
                  <a:schemeClr val="accent1"/>
                </a:solidFill>
              </a:rPr>
              <a:t>updated_at</a:t>
            </a:r>
            <a:r>
              <a:rPr lang="ru-RU" sz="2400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1030" name="Picture 6" descr="Веб-аналитика - что это такое простыми словами и как посмотреть аналитику  сайта">
            <a:extLst>
              <a:ext uri="{FF2B5EF4-FFF2-40B4-BE49-F238E27FC236}">
                <a16:creationId xmlns:a16="http://schemas.microsoft.com/office/drawing/2014/main" id="{99DCE2FC-1855-4CC6-A88E-3828E92EF1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" t="2183" r="1573" b="2838"/>
          <a:stretch/>
        </p:blipFill>
        <p:spPr bwMode="auto">
          <a:xfrm>
            <a:off x="6331131" y="1974668"/>
            <a:ext cx="4702629" cy="3634701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25F98FC-410F-4106-8121-84E71AAC3B8B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Аналитика структуры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379602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3B2276-3252-493F-8CD6-CB573EFB7AA6}"/>
              </a:ext>
            </a:extLst>
          </p:cNvPr>
          <p:cNvSpPr txBox="1"/>
          <p:nvPr/>
        </p:nvSpPr>
        <p:spPr>
          <a:xfrm>
            <a:off x="11573691" y="6235338"/>
            <a:ext cx="3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5</a:t>
            </a: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2050" name="Picture 2" descr="Руководство по PostgreSQL | Рег.ру">
            <a:extLst>
              <a:ext uri="{FF2B5EF4-FFF2-40B4-BE49-F238E27FC236}">
                <a16:creationId xmlns:a16="http://schemas.microsoft.com/office/drawing/2014/main" id="{EFA2B942-068C-4336-8516-066CA8177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67" y="2704162"/>
            <a:ext cx="2181822" cy="242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97023A6-4B35-4494-BF0F-24F9B3196327}"/>
              </a:ext>
            </a:extLst>
          </p:cNvPr>
          <p:cNvGrpSpPr/>
          <p:nvPr/>
        </p:nvGrpSpPr>
        <p:grpSpPr>
          <a:xfrm>
            <a:off x="3175122" y="2466576"/>
            <a:ext cx="2828996" cy="2190196"/>
            <a:chOff x="2872481" y="3413506"/>
            <a:chExt cx="2992751" cy="2291223"/>
          </a:xfrm>
        </p:grpSpPr>
        <p:pic>
          <p:nvPicPr>
            <p:cNvPr id="2052" name="Picture 4" descr="Django Dj Logo Png">
              <a:extLst>
                <a:ext uri="{FF2B5EF4-FFF2-40B4-BE49-F238E27FC236}">
                  <a16:creationId xmlns:a16="http://schemas.microsoft.com/office/drawing/2014/main" id="{E044BB82-4766-4602-9EB2-6A35842341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7008" y="3457581"/>
              <a:ext cx="1588224" cy="1191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Python Logo y símbolo, significado, historia, PNG, marca">
              <a:extLst>
                <a:ext uri="{FF2B5EF4-FFF2-40B4-BE49-F238E27FC236}">
                  <a16:creationId xmlns:a16="http://schemas.microsoft.com/office/drawing/2014/main" id="{CC509092-4E6E-4FEE-A71E-F217C7B9BA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2481" y="3413506"/>
              <a:ext cx="1914862" cy="1173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Django Rest Framework">
              <a:extLst>
                <a:ext uri="{FF2B5EF4-FFF2-40B4-BE49-F238E27FC236}">
                  <a16:creationId xmlns:a16="http://schemas.microsoft.com/office/drawing/2014/main" id="{B702D266-3C03-4E8D-806E-D6B2844AA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0820" y="4586950"/>
              <a:ext cx="1117779" cy="11177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Docker Logo, symbol, meaning, history, PNG, brand">
            <a:extLst>
              <a:ext uri="{FF2B5EF4-FFF2-40B4-BE49-F238E27FC236}">
                <a16:creationId xmlns:a16="http://schemas.microsoft.com/office/drawing/2014/main" id="{A6BB4FCE-ADF8-43A4-9ACE-EB0877E36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353" y="3014756"/>
            <a:ext cx="3099886" cy="174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AEAEF1-6BD8-4E28-9CD1-7BAB6E2C3E2D}"/>
              </a:ext>
            </a:extLst>
          </p:cNvPr>
          <p:cNvSpPr txBox="1"/>
          <p:nvPr/>
        </p:nvSpPr>
        <p:spPr>
          <a:xfrm>
            <a:off x="1031818" y="1817733"/>
            <a:ext cx="1642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База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9C6FB-0568-43E0-A17E-971DB468896C}"/>
              </a:ext>
            </a:extLst>
          </p:cNvPr>
          <p:cNvSpPr txBox="1"/>
          <p:nvPr/>
        </p:nvSpPr>
        <p:spPr>
          <a:xfrm>
            <a:off x="4023819" y="1704968"/>
            <a:ext cx="1263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Backend /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Frontend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E8AD7-8C66-448C-AD7A-8D136B3698F3}"/>
              </a:ext>
            </a:extLst>
          </p:cNvPr>
          <p:cNvSpPr txBox="1"/>
          <p:nvPr/>
        </p:nvSpPr>
        <p:spPr>
          <a:xfrm>
            <a:off x="6468836" y="1817733"/>
            <a:ext cx="22357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Контейнеризация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D94B2-CB65-45FE-9E1E-522EFE5F4612}"/>
              </a:ext>
            </a:extLst>
          </p:cNvPr>
          <p:cNvSpPr txBox="1"/>
          <p:nvPr/>
        </p:nvSpPr>
        <p:spPr>
          <a:xfrm>
            <a:off x="9216978" y="1356068"/>
            <a:ext cx="1987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Контроль версий</a:t>
            </a:r>
            <a:r>
              <a:rPr lang="en-US" sz="2000" b="1" dirty="0">
                <a:solidFill>
                  <a:schemeClr val="accent1"/>
                </a:solidFill>
              </a:rPr>
              <a:t>/</a:t>
            </a:r>
            <a:endParaRPr lang="ru-RU" sz="2000" b="1" dirty="0">
              <a:solidFill>
                <a:schemeClr val="accent1"/>
              </a:solidFill>
            </a:endParaRPr>
          </a:p>
          <a:p>
            <a:pPr algn="ctr"/>
            <a:r>
              <a:rPr lang="ru-RU" sz="2000" b="1" dirty="0">
                <a:solidFill>
                  <a:schemeClr val="accent1"/>
                </a:solidFill>
              </a:rPr>
              <a:t>Совместная разработка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6063399-947E-417E-97E5-87F6382144F2}"/>
              </a:ext>
            </a:extLst>
          </p:cNvPr>
          <p:cNvGrpSpPr/>
          <p:nvPr/>
        </p:nvGrpSpPr>
        <p:grpSpPr>
          <a:xfrm>
            <a:off x="8852337" y="3177460"/>
            <a:ext cx="2834566" cy="1418278"/>
            <a:chOff x="9182885" y="4383711"/>
            <a:chExt cx="2448941" cy="1173444"/>
          </a:xfrm>
        </p:grpSpPr>
        <p:pic>
          <p:nvPicPr>
            <p:cNvPr id="2060" name="Picture 12" descr="GitHub Logo, symbol, meaning, history, PNG, brand">
              <a:extLst>
                <a:ext uri="{FF2B5EF4-FFF2-40B4-BE49-F238E27FC236}">
                  <a16:creationId xmlns:a16="http://schemas.microsoft.com/office/drawing/2014/main" id="{A33C08B4-0A39-4211-BB70-1408931CD4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04" r="14766"/>
            <a:stretch/>
          </p:blipFill>
          <p:spPr bwMode="auto">
            <a:xfrm>
              <a:off x="10208434" y="4436648"/>
              <a:ext cx="1423392" cy="1117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6" name="Picture 18" descr="git Vector Icons free download in SVG, PNG Format">
              <a:extLst>
                <a:ext uri="{FF2B5EF4-FFF2-40B4-BE49-F238E27FC236}">
                  <a16:creationId xmlns:a16="http://schemas.microsoft.com/office/drawing/2014/main" id="{317A125E-872C-44DB-960D-BA400AB3F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2885" y="4383711"/>
              <a:ext cx="1173444" cy="1173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8" name="Picture 20" descr="Can HTML, CSS and JavaScript create a website? | UltimateWB Blog | Web  Design Tips, News &amp; Insights">
            <a:extLst>
              <a:ext uri="{FF2B5EF4-FFF2-40B4-BE49-F238E27FC236}">
                <a16:creationId xmlns:a16="http://schemas.microsoft.com/office/drawing/2014/main" id="{E7B3F28A-30DA-45BA-880C-E1FD7364B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161" y="4999168"/>
            <a:ext cx="2354611" cy="132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302E0BB-FDFC-4C80-AB35-CEDE0E3E1C1C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Используемые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56076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C4BE86F-1591-4609-BE5F-96498A87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59781"/>
            <a:ext cx="9875520" cy="1238030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Реализация </a:t>
            </a:r>
            <a:r>
              <a:rPr lang="en-US" b="1" dirty="0"/>
              <a:t>API</a:t>
            </a:r>
            <a:r>
              <a:rPr lang="ru-RU" b="1" dirty="0"/>
              <a:t> для взаимодействия с базой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A13868-78C8-471A-9B45-24D2F8F9A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350" y="1799374"/>
            <a:ext cx="5005299" cy="783138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52240E9-629B-4BFD-B555-0E67DB9C3CC6}"/>
              </a:ext>
            </a:extLst>
          </p:cNvPr>
          <p:cNvGrpSpPr/>
          <p:nvPr/>
        </p:nvGrpSpPr>
        <p:grpSpPr>
          <a:xfrm>
            <a:off x="3197187" y="2756942"/>
            <a:ext cx="5955521" cy="1900783"/>
            <a:chOff x="3814491" y="2912732"/>
            <a:chExt cx="4770014" cy="1544769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DD7276F6-DEC0-49B4-B12E-E716C17C3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4491" y="3064193"/>
              <a:ext cx="1045449" cy="1329422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B53332F0-0828-4DC8-B961-5F77AC242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1418" y="2976615"/>
              <a:ext cx="1209163" cy="1480886"/>
            </a:xfrm>
            <a:prstGeom prst="rect">
              <a:avLst/>
            </a:prstGeom>
          </p:spPr>
        </p:pic>
        <p:pic>
          <p:nvPicPr>
            <p:cNvPr id="6146" name="Picture 2" descr="Front-end concept icon. Software development kit idea thin line ...">
              <a:extLst>
                <a:ext uri="{FF2B5EF4-FFF2-40B4-BE49-F238E27FC236}">
                  <a16:creationId xmlns:a16="http://schemas.microsoft.com/office/drawing/2014/main" id="{0E250148-9F77-402E-8976-2C8A85DCCB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51" t="6937" r="9546" b="5307"/>
            <a:stretch/>
          </p:blipFill>
          <p:spPr bwMode="auto">
            <a:xfrm>
              <a:off x="7207458" y="2912732"/>
              <a:ext cx="1377047" cy="1480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17FD2325-253F-4966-9810-DC8A78C03A72}"/>
                </a:ext>
              </a:extLst>
            </p:cNvPr>
            <p:cNvCxnSpPr/>
            <p:nvPr/>
          </p:nvCxnSpPr>
          <p:spPr>
            <a:xfrm>
              <a:off x="4970928" y="3722881"/>
              <a:ext cx="383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1E050B87-E9A6-45EF-9AE2-63C1ED8B3E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70928" y="3544788"/>
              <a:ext cx="358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>
              <a:extLst>
                <a:ext uri="{FF2B5EF4-FFF2-40B4-BE49-F238E27FC236}">
                  <a16:creationId xmlns:a16="http://schemas.microsoft.com/office/drawing/2014/main" id="{F9BC01AC-92E0-4E1D-8D23-33DFE812D844}"/>
                </a:ext>
              </a:extLst>
            </p:cNvPr>
            <p:cNvCxnSpPr/>
            <p:nvPr/>
          </p:nvCxnSpPr>
          <p:spPr>
            <a:xfrm>
              <a:off x="6848758" y="3716349"/>
              <a:ext cx="383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779C6313-1E78-40B7-B264-750DF44F5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8758" y="3538256"/>
              <a:ext cx="358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8981235-3340-4898-83C7-22F984EA54B1}"/>
              </a:ext>
            </a:extLst>
          </p:cNvPr>
          <p:cNvSpPr txBox="1"/>
          <p:nvPr/>
        </p:nvSpPr>
        <p:spPr>
          <a:xfrm>
            <a:off x="11495314" y="6235338"/>
            <a:ext cx="45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10</a:t>
            </a: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540B1B-A5C6-4C8A-9EB1-1AA4BBE96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015" y="4815839"/>
            <a:ext cx="5005299" cy="1682379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0FA709-6DE7-4259-A846-B87129B1B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978" y="4813515"/>
            <a:ext cx="5249008" cy="1682372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351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35C7C-6DC7-41EA-BB44-0F2F44108345}"/>
              </a:ext>
            </a:extLst>
          </p:cNvPr>
          <p:cNvSpPr txBox="1"/>
          <p:nvPr/>
        </p:nvSpPr>
        <p:spPr>
          <a:xfrm>
            <a:off x="7300659" y="1754389"/>
            <a:ext cx="8324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</a:rPr>
              <a:t>+</a:t>
            </a:r>
            <a:endParaRPr lang="ru-RU" sz="9600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48137-ABC4-4035-BADB-30B42BB7E6E6}"/>
              </a:ext>
            </a:extLst>
          </p:cNvPr>
          <p:cNvSpPr txBox="1"/>
          <p:nvPr/>
        </p:nvSpPr>
        <p:spPr>
          <a:xfrm>
            <a:off x="8200514" y="2323589"/>
            <a:ext cx="3190297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docker exec</a:t>
            </a:r>
            <a:r>
              <a:rPr lang="ru-R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–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t &gt;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dump.sql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docker exec –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&lt; 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dump.sql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ECB69-AC1D-4688-8990-8CE6B43717A8}"/>
              </a:ext>
            </a:extLst>
          </p:cNvPr>
          <p:cNvSpPr txBox="1"/>
          <p:nvPr/>
        </p:nvSpPr>
        <p:spPr>
          <a:xfrm>
            <a:off x="11495314" y="6235338"/>
            <a:ext cx="45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9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50821F1-2E0D-411A-B159-A5A8BA4EE1DC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Резервное копирование базы данных</a:t>
            </a:r>
          </a:p>
        </p:txBody>
      </p:sp>
      <p:pic>
        <p:nvPicPr>
          <p:cNvPr id="1028" name="Picture 4" descr="Цветная иконка PowerShell в PNG, SVG">
            <a:extLst>
              <a:ext uri="{FF2B5EF4-FFF2-40B4-BE49-F238E27FC236}">
                <a16:creationId xmlns:a16="http://schemas.microsoft.com/office/drawing/2014/main" id="{C46F323C-39D2-4BB4-A0CD-0E2F9A15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316" y="1364121"/>
            <a:ext cx="2417455" cy="235019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572DBF-0A18-4991-B395-E8FC3BB85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495" y="4438527"/>
            <a:ext cx="5973009" cy="1981477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811850-8564-4C64-8A5F-98D789113EBF}"/>
              </a:ext>
            </a:extLst>
          </p:cNvPr>
          <p:cNvSpPr txBox="1"/>
          <p:nvPr/>
        </p:nvSpPr>
        <p:spPr>
          <a:xfrm>
            <a:off x="3618982" y="1754389"/>
            <a:ext cx="8324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</a:rPr>
              <a:t>+</a:t>
            </a:r>
            <a:endParaRPr lang="ru-RU" sz="9600" b="1" dirty="0">
              <a:solidFill>
                <a:schemeClr val="accent1"/>
              </a:solidFill>
            </a:endParaRPr>
          </a:p>
        </p:txBody>
      </p:sp>
      <p:pic>
        <p:nvPicPr>
          <p:cNvPr id="1032" name="Picture 8" descr="Windows 10 Help Forums">
            <a:extLst>
              <a:ext uri="{FF2B5EF4-FFF2-40B4-BE49-F238E27FC236}">
                <a16:creationId xmlns:a16="http://schemas.microsoft.com/office/drawing/2014/main" id="{E05BCDA6-7F62-4A2E-B1FB-E486E4C78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40" y="1544415"/>
            <a:ext cx="2143125" cy="2143125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058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707312F-2142-4E4E-9C6E-3FCC0800A93B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Билеты. Система </a:t>
            </a:r>
            <a:r>
              <a:rPr lang="en-US" b="1" dirty="0"/>
              <a:t>QR-</a:t>
            </a:r>
            <a:r>
              <a:rPr lang="ru-RU" b="1" dirty="0"/>
              <a:t>кодов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9DBDE4-538F-4C18-8498-6BB3A3B7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91" y="1491157"/>
            <a:ext cx="6866689" cy="4570007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E75DE4-8140-47C5-8A72-8F10E539C2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48"/>
          <a:stretch/>
        </p:blipFill>
        <p:spPr>
          <a:xfrm>
            <a:off x="7798546" y="1245822"/>
            <a:ext cx="3714186" cy="5060676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7356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906A639-05DF-4589-8496-1FA5DA44EB10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Панель администратора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1E90DB-4F13-4ED4-94C6-861DAAD33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86" y="1153886"/>
            <a:ext cx="7654834" cy="528610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D2894-F0D1-4B07-8AF5-B6F069429663}"/>
              </a:ext>
            </a:extLst>
          </p:cNvPr>
          <p:cNvSpPr txBox="1"/>
          <p:nvPr/>
        </p:nvSpPr>
        <p:spPr>
          <a:xfrm>
            <a:off x="400595" y="1781000"/>
            <a:ext cx="3648891" cy="40318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3200" b="1" dirty="0">
                <a:solidFill>
                  <a:schemeClr val="accent1"/>
                </a:solidFill>
              </a:rPr>
              <a:t>Редактирование фильмов</a:t>
            </a:r>
          </a:p>
          <a:p>
            <a:pPr marL="342900" indent="-342900">
              <a:buAutoNum type="arabicPeriod"/>
            </a:pPr>
            <a:endParaRPr lang="ru-RU" sz="3200" b="1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r>
              <a:rPr lang="ru-RU" sz="3200" b="1" dirty="0">
                <a:solidFill>
                  <a:schemeClr val="accent1"/>
                </a:solidFill>
              </a:rPr>
              <a:t>Редактирование сеансов</a:t>
            </a:r>
          </a:p>
          <a:p>
            <a:pPr marL="342900" indent="-342900">
              <a:buAutoNum type="arabicPeriod"/>
            </a:pPr>
            <a:endParaRPr lang="ru-RU" sz="3200" b="1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r>
              <a:rPr lang="ru-RU" sz="3200" b="1" dirty="0">
                <a:solidFill>
                  <a:schemeClr val="accent1"/>
                </a:solidFill>
              </a:rPr>
              <a:t>Создание отчётов</a:t>
            </a:r>
          </a:p>
        </p:txBody>
      </p:sp>
    </p:spTree>
    <p:extLst>
      <p:ext uri="{BB962C8B-B14F-4D97-AF65-F5344CB8AC3E}">
        <p14:creationId xmlns:p14="http://schemas.microsoft.com/office/powerpoint/2010/main" val="240743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D00C18C-953A-4C4E-AF08-90FFB58E2F9D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Система лояльности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D60159-CFAA-4C5C-8267-CFACD7CAE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5" y="2037591"/>
            <a:ext cx="5042265" cy="3592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52C34C-FCB7-4068-9D73-D539710DC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7"/>
          <a:stretch/>
        </p:blipFill>
        <p:spPr>
          <a:xfrm>
            <a:off x="6096000" y="1158240"/>
            <a:ext cx="5468985" cy="5351417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2925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A996DE-1FE7-4211-A07A-A04A76D4C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6" y="3686966"/>
            <a:ext cx="3650711" cy="2683034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9EB6E9-4E7E-4FCA-B96F-68E2A94DB813}"/>
              </a:ext>
            </a:extLst>
          </p:cNvPr>
          <p:cNvSpPr txBox="1"/>
          <p:nvPr/>
        </p:nvSpPr>
        <p:spPr>
          <a:xfrm>
            <a:off x="1075579" y="2473909"/>
            <a:ext cx="28892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i="0" dirty="0">
                <a:solidFill>
                  <a:schemeClr val="accent1"/>
                </a:solidFill>
                <a:effectLst/>
                <a:latin typeface="+mj-lt"/>
              </a:rPr>
              <a:t>Рабочая ИС «Нора»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30029-D83E-4BD6-9E6D-FA1F1FDC9CE5}"/>
              </a:ext>
            </a:extLst>
          </p:cNvPr>
          <p:cNvSpPr txBox="1"/>
          <p:nvPr/>
        </p:nvSpPr>
        <p:spPr>
          <a:xfrm>
            <a:off x="8574606" y="1651078"/>
            <a:ext cx="2194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i="0" dirty="0">
                <a:solidFill>
                  <a:schemeClr val="accent1"/>
                </a:solidFill>
                <a:effectLst/>
                <a:latin typeface="+mj-lt"/>
              </a:rPr>
              <a:t>Соответствие требованиям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5AD5E-04E7-4611-ABE4-D4C1491AAF92}"/>
              </a:ext>
            </a:extLst>
          </p:cNvPr>
          <p:cNvSpPr txBox="1"/>
          <p:nvPr/>
        </p:nvSpPr>
        <p:spPr>
          <a:xfrm>
            <a:off x="4137764" y="5589007"/>
            <a:ext cx="3505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accent1"/>
                </a:solidFill>
                <a:latin typeface="+mj-lt"/>
              </a:rPr>
              <a:t>Полная готовность к использованию</a:t>
            </a:r>
            <a:endParaRPr lang="ru-RU" sz="2400" b="1" i="0" dirty="0">
              <a:solidFill>
                <a:schemeClr val="accent1"/>
              </a:solidFill>
              <a:effectLst/>
              <a:latin typeface="+mj-lt"/>
            </a:endParaRPr>
          </a:p>
        </p:txBody>
      </p:sp>
      <p:pic>
        <p:nvPicPr>
          <p:cNvPr id="4098" name="Picture 2" descr="Яндекс ID подтвердил соответствие отраслевому стандарту защиты данных">
            <a:extLst>
              <a:ext uri="{FF2B5EF4-FFF2-40B4-BE49-F238E27FC236}">
                <a16:creationId xmlns:a16="http://schemas.microsoft.com/office/drawing/2014/main" id="{0A7C50B8-EF7A-4D1B-8DF7-1A02B865A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425" y="2617428"/>
            <a:ext cx="3650710" cy="213907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CF1AA7C-70E5-45DE-AF72-C1320BAE11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722"/>
          <a:stretch/>
        </p:blipFill>
        <p:spPr>
          <a:xfrm>
            <a:off x="694865" y="1542670"/>
            <a:ext cx="3650711" cy="869062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4CB7508-CD1D-4760-9760-51A8ABC59788}"/>
              </a:ext>
            </a:extLst>
          </p:cNvPr>
          <p:cNvSpPr txBox="1"/>
          <p:nvPr/>
        </p:nvSpPr>
        <p:spPr>
          <a:xfrm>
            <a:off x="11495314" y="6235338"/>
            <a:ext cx="45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12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C426C19-585D-45E2-B778-CA2B242FD216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2226682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3E7D360-19B1-416B-828A-E0A4B2207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1950719"/>
            <a:ext cx="9966960" cy="2148935"/>
          </a:xfrm>
        </p:spPr>
        <p:txBody>
          <a:bodyPr/>
          <a:lstStyle/>
          <a:p>
            <a:r>
              <a:rPr lang="ru-RU" b="1" dirty="0"/>
              <a:t>Демонстрация работы проекта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2E9791-C9AA-4418-ADAF-4CAEAA0CA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461023"/>
          </a:xfrm>
        </p:spPr>
        <p:txBody>
          <a:bodyPr>
            <a:normAutofit/>
          </a:bodyPr>
          <a:lstStyle/>
          <a:p>
            <a:r>
              <a:rPr lang="ru-RU" dirty="0"/>
              <a:t>В условиях «поднятия» на локальной машине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B91CA-FCAC-435E-BAF1-B32CD515954A}"/>
              </a:ext>
            </a:extLst>
          </p:cNvPr>
          <p:cNvSpPr txBox="1"/>
          <p:nvPr/>
        </p:nvSpPr>
        <p:spPr>
          <a:xfrm>
            <a:off x="11495314" y="6235338"/>
            <a:ext cx="45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13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068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72F824-817B-4239-AF4E-F08E3182FE1B}"/>
              </a:ext>
            </a:extLst>
          </p:cNvPr>
          <p:cNvSpPr txBox="1"/>
          <p:nvPr/>
        </p:nvSpPr>
        <p:spPr>
          <a:xfrm>
            <a:off x="11495314" y="6235338"/>
            <a:ext cx="45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14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DCED01-0861-4BA2-B11E-5975DF056347}"/>
              </a:ext>
            </a:extLst>
          </p:cNvPr>
          <p:cNvSpPr txBox="1">
            <a:spLocks/>
          </p:cNvSpPr>
          <p:nvPr/>
        </p:nvSpPr>
        <p:spPr>
          <a:xfrm>
            <a:off x="1158240" y="348343"/>
            <a:ext cx="9875520" cy="6270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091320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70D99-4298-42A9-85EC-FFF203702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642" y="2690949"/>
            <a:ext cx="10592712" cy="1046199"/>
          </a:xfrm>
        </p:spPr>
        <p:txBody>
          <a:bodyPr>
            <a:normAutofit/>
          </a:bodyPr>
          <a:lstStyle/>
          <a:p>
            <a:r>
              <a:rPr lang="ru-RU" sz="2800" b="0" dirty="0">
                <a:latin typeface="+mn-lt"/>
              </a:rPr>
              <a:t>Курсовая работа на тему:</a:t>
            </a:r>
            <a:br>
              <a:rPr lang="ru-RU" sz="3600" b="1" dirty="0">
                <a:latin typeface="+mn-lt"/>
              </a:rPr>
            </a:br>
            <a:r>
              <a:rPr lang="ru-RU" sz="3600" b="1" dirty="0">
                <a:latin typeface="+mn-lt"/>
              </a:rPr>
              <a:t>Система управления кинотеатром «Нора»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56821F-A415-40A8-8A64-682C432B6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642" y="4688595"/>
            <a:ext cx="4106092" cy="1607702"/>
          </a:xfrm>
        </p:spPr>
        <p:txBody>
          <a:bodyPr>
            <a:noAutofit/>
          </a:bodyPr>
          <a:lstStyle/>
          <a:p>
            <a:r>
              <a:rPr lang="ru-RU" sz="2400" dirty="0"/>
              <a:t>Работу выполнили студенты группы ИС-23:</a:t>
            </a:r>
          </a:p>
          <a:p>
            <a:r>
              <a:rPr lang="ru-RU" sz="2400" dirty="0"/>
              <a:t>Бородин Артём, Киселёв Иван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A0596-050E-4EE0-B0A3-D418E76CA7E9}"/>
              </a:ext>
            </a:extLst>
          </p:cNvPr>
          <p:cNvSpPr txBox="1"/>
          <p:nvPr/>
        </p:nvSpPr>
        <p:spPr>
          <a:xfrm>
            <a:off x="1719553" y="261258"/>
            <a:ext cx="8752890" cy="21059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>
                <a:schemeClr val="dk2"/>
              </a:buClr>
              <a:buSzPct val="100000"/>
            </a:pP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</a:t>
            </a:r>
            <a:b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</a:b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Федеральное государственное бюджетное образовательное учреждение</a:t>
            </a:r>
            <a:b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</a:b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высшего образования</a:t>
            </a:r>
          </a:p>
          <a:p>
            <a:pPr lvl="0" algn="ctr">
              <a:lnSpc>
                <a:spcPct val="150000"/>
              </a:lnSpc>
              <a:spcBef>
                <a:spcPts val="800"/>
              </a:spcBef>
              <a:buClr>
                <a:schemeClr val="dk2"/>
              </a:buClr>
              <a:buSzPct val="100000"/>
            </a:pP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«Заполярный государственный университет им </a:t>
            </a:r>
            <a:r>
              <a:rPr lang="ru-RU" sz="1600" b="1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Н.М.Федоровского</a:t>
            </a: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»</a:t>
            </a:r>
          </a:p>
          <a:p>
            <a:pPr lvl="0" algn="ctr">
              <a:lnSpc>
                <a:spcPct val="150000"/>
              </a:lnSpc>
              <a:spcBef>
                <a:spcPts val="800"/>
              </a:spcBef>
              <a:buClr>
                <a:schemeClr val="dk2"/>
              </a:buClr>
              <a:buSzPct val="100000"/>
            </a:pPr>
            <a:r>
              <a:rPr lang="ru-RU" sz="16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Кафедра информационных систем и технологий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2175B-D058-4470-81FE-01616D0F67F4}"/>
              </a:ext>
            </a:extLst>
          </p:cNvPr>
          <p:cNvSpPr txBox="1"/>
          <p:nvPr/>
        </p:nvSpPr>
        <p:spPr>
          <a:xfrm>
            <a:off x="8640445" y="4688595"/>
            <a:ext cx="2751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Руководитель:</a:t>
            </a:r>
          </a:p>
          <a:p>
            <a:pPr algn="ctr"/>
            <a:r>
              <a:rPr lang="ru-RU" sz="2400" dirty="0">
                <a:solidFill>
                  <a:schemeClr val="bg1"/>
                </a:solidFill>
              </a:rPr>
              <a:t>Варламова Татьяна Евгеньевна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291CD-04DB-4B23-89A5-F14DB25F0044}"/>
              </a:ext>
            </a:extLst>
          </p:cNvPr>
          <p:cNvSpPr txBox="1"/>
          <p:nvPr/>
        </p:nvSpPr>
        <p:spPr>
          <a:xfrm>
            <a:off x="5260352" y="6227410"/>
            <a:ext cx="1671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Норильск 2026</a:t>
            </a:r>
          </a:p>
        </p:txBody>
      </p:sp>
    </p:spTree>
    <p:extLst>
      <p:ext uri="{BB962C8B-B14F-4D97-AF65-F5344CB8AC3E}">
        <p14:creationId xmlns:p14="http://schemas.microsoft.com/office/powerpoint/2010/main" val="3756049992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1292</TotalTime>
  <Words>409</Words>
  <Application>Microsoft Office PowerPoint</Application>
  <PresentationFormat>Широкоэкранный</PresentationFormat>
  <Paragraphs>135</Paragraphs>
  <Slides>19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Cascadia Code</vt:lpstr>
      <vt:lpstr>Corbel</vt:lpstr>
      <vt:lpstr>Базис</vt:lpstr>
      <vt:lpstr>Курсовая работа на тему: Система управления кинотеатром «Нора»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Логическая модель базы данных</vt:lpstr>
      <vt:lpstr>Физическая модель базы данных</vt:lpstr>
      <vt:lpstr>Презентация PowerPoint</vt:lpstr>
      <vt:lpstr>Презентация PowerPoint</vt:lpstr>
      <vt:lpstr>Реализация API для взаимодействия с базой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Демонстрация работы проекта</vt:lpstr>
      <vt:lpstr>Презентация PowerPoint</vt:lpstr>
      <vt:lpstr>Курсовая работа на тему: Система управления кинотеатром «Нора»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Valdermark111 Iv</dc:creator>
  <cp:lastModifiedBy>Valdermark111 Iv</cp:lastModifiedBy>
  <cp:revision>246</cp:revision>
  <dcterms:created xsi:type="dcterms:W3CDTF">2025-12-23T16:00:21Z</dcterms:created>
  <dcterms:modified xsi:type="dcterms:W3CDTF">2026-01-12T20:50:16Z</dcterms:modified>
</cp:coreProperties>
</file>