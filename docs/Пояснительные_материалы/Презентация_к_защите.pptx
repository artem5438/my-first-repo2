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7" r:id="rId9"/>
    <p:sldId id="265" r:id="rId10"/>
    <p:sldId id="270" r:id="rId11"/>
    <p:sldId id="268" r:id="rId12"/>
    <p:sldId id="269" r:id="rId13"/>
    <p:sldId id="262" r:id="rId14"/>
    <p:sldId id="271" r:id="rId15"/>
    <p:sldId id="26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59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9C7D22-FB58-447E-ACFC-07E71BDC7FBF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49E79C-CEA3-4026-803B-ED20BE799FE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07952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49E79C-CEA3-4026-803B-ED20BE799FEE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86160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49E79C-CEA3-4026-803B-ED20BE799FEE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83636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49E79C-CEA3-4026-803B-ED20BE799FEE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02616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49E79C-CEA3-4026-803B-ED20BE799FEE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8336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/>
              <a:t>Цель достигнута</a:t>
            </a:r>
          </a:p>
          <a:p>
            <a:r>
              <a:rPr lang="ru-RU" b="1" dirty="0"/>
              <a:t>Реализованы:</a:t>
            </a:r>
          </a:p>
          <a:p>
            <a:pPr lvl="1"/>
            <a:r>
              <a:rPr lang="ru-RU" dirty="0"/>
              <a:t>Надёжная БД</a:t>
            </a:r>
          </a:p>
          <a:p>
            <a:pPr lvl="1"/>
            <a:r>
              <a:rPr lang="ru-RU" dirty="0"/>
              <a:t>Безопасный </a:t>
            </a:r>
            <a:r>
              <a:rPr lang="en-US" dirty="0"/>
              <a:t>API</a:t>
            </a:r>
          </a:p>
          <a:p>
            <a:pPr lvl="1"/>
            <a:r>
              <a:rPr lang="ru-RU" dirty="0"/>
              <a:t>Автоматизация и отказоустойчивости</a:t>
            </a:r>
          </a:p>
          <a:p>
            <a:r>
              <a:rPr lang="ru-RU" b="1" dirty="0"/>
              <a:t>Возможности для развития:</a:t>
            </a:r>
          </a:p>
          <a:p>
            <a:pPr lvl="1"/>
            <a:r>
              <a:rPr lang="ru-RU" dirty="0"/>
              <a:t>Аналитика в реальном времени</a:t>
            </a:r>
          </a:p>
          <a:p>
            <a:pPr lvl="1"/>
            <a:r>
              <a:rPr lang="ru-RU" dirty="0"/>
              <a:t>Система рекомендаций</a:t>
            </a:r>
          </a:p>
          <a:p>
            <a:pPr lvl="1"/>
            <a:r>
              <a:rPr lang="ru-RU" dirty="0"/>
              <a:t>Мобильное приложение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49E79C-CEA3-4026-803B-ED20BE799FEE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85704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7562239C-2226-4D5F-B75C-B6C41830650F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367F27D4-6921-439A-A60A-92D4A1A30D0C}" type="slidenum">
              <a:rPr lang="ru-RU" smtClean="0"/>
              <a:t>‹#›</a:t>
            </a:fld>
            <a:endParaRPr lang="ru-RU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1764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2239C-2226-4D5F-B75C-B6C41830650F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F27D4-6921-439A-A60A-92D4A1A30D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6563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2239C-2226-4D5F-B75C-B6C41830650F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F27D4-6921-439A-A60A-92D4A1A30D0C}" type="slidenum">
              <a:rPr lang="ru-RU" smtClean="0"/>
              <a:t>‹#›</a:t>
            </a:fld>
            <a:endParaRPr lang="ru-RU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9402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2239C-2226-4D5F-B75C-B6C41830650F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F27D4-6921-439A-A60A-92D4A1A30D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9216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2239C-2226-4D5F-B75C-B6C41830650F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F27D4-6921-439A-A60A-92D4A1A30D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15332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2239C-2226-4D5F-B75C-B6C41830650F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F27D4-6921-439A-A60A-92D4A1A30D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32244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2239C-2226-4D5F-B75C-B6C41830650F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F27D4-6921-439A-A60A-92D4A1A30D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20093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2239C-2226-4D5F-B75C-B6C41830650F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F27D4-6921-439A-A60A-92D4A1A30D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94090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2239C-2226-4D5F-B75C-B6C41830650F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F27D4-6921-439A-A60A-92D4A1A30D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98632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2239C-2226-4D5F-B75C-B6C41830650F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F27D4-6921-439A-A60A-92D4A1A30D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44936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2239C-2226-4D5F-B75C-B6C41830650F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7F27D4-6921-439A-A60A-92D4A1A30D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7986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7562239C-2226-4D5F-B75C-B6C41830650F}" type="datetimeFigureOut">
              <a:rPr lang="ru-RU" smtClean="0"/>
              <a:t>10.01.2026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367F27D4-6921-439A-A60A-92D4A1A30D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5569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170D99-4298-42A9-85EC-FFF2037026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9642" y="2690949"/>
            <a:ext cx="10592712" cy="1046199"/>
          </a:xfrm>
        </p:spPr>
        <p:txBody>
          <a:bodyPr>
            <a:normAutofit/>
          </a:bodyPr>
          <a:lstStyle/>
          <a:p>
            <a:r>
              <a:rPr lang="ru-RU" sz="2800" b="0" dirty="0">
                <a:latin typeface="+mn-lt"/>
              </a:rPr>
              <a:t>Курсовая работа на тему:</a:t>
            </a:r>
            <a:br>
              <a:rPr lang="ru-RU" sz="3600" b="1" dirty="0">
                <a:latin typeface="+mn-lt"/>
              </a:rPr>
            </a:br>
            <a:r>
              <a:rPr lang="ru-RU" sz="3600" b="1" dirty="0">
                <a:latin typeface="+mn-lt"/>
              </a:rPr>
              <a:t>Система управления кинотеатром «Нора»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656821F-A415-40A8-8A64-682C432B61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9642" y="4688595"/>
            <a:ext cx="4106092" cy="1607702"/>
          </a:xfrm>
        </p:spPr>
        <p:txBody>
          <a:bodyPr>
            <a:noAutofit/>
          </a:bodyPr>
          <a:lstStyle/>
          <a:p>
            <a:r>
              <a:rPr lang="ru-RU" sz="2400" dirty="0"/>
              <a:t>Работу выполнили студенты группы ИС-23:</a:t>
            </a:r>
          </a:p>
          <a:p>
            <a:r>
              <a:rPr lang="ru-RU" sz="2400" dirty="0"/>
              <a:t>Бородин Артём, Киселёв Иван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CA0596-050E-4EE0-B0A3-D418E76CA7E9}"/>
              </a:ext>
            </a:extLst>
          </p:cNvPr>
          <p:cNvSpPr txBox="1"/>
          <p:nvPr/>
        </p:nvSpPr>
        <p:spPr>
          <a:xfrm>
            <a:off x="1719553" y="261258"/>
            <a:ext cx="8752890" cy="210596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 algn="ctr">
              <a:lnSpc>
                <a:spcPct val="150000"/>
              </a:lnSpc>
              <a:buClr>
                <a:schemeClr val="dk2"/>
              </a:buClr>
              <a:buSzPct val="100000"/>
            </a:pPr>
            <a:r>
              <a:rPr lang="ru-RU" sz="1600" b="1" dirty="0">
                <a:solidFill>
                  <a:schemeClr val="bg1"/>
                </a:solidFill>
                <a:ea typeface="Times New Roman"/>
                <a:cs typeface="Times New Roman"/>
                <a:sym typeface="Times New Roman"/>
              </a:rPr>
              <a:t>Министерство науки и высшего образования Российской Федерации</a:t>
            </a:r>
            <a:br>
              <a:rPr lang="ru-RU" sz="1600" b="1" dirty="0">
                <a:solidFill>
                  <a:schemeClr val="bg1"/>
                </a:solidFill>
                <a:ea typeface="Times New Roman"/>
                <a:cs typeface="Times New Roman"/>
                <a:sym typeface="Times New Roman"/>
              </a:rPr>
            </a:br>
            <a:r>
              <a:rPr lang="ru-RU" sz="1600" b="1" dirty="0">
                <a:solidFill>
                  <a:schemeClr val="bg1"/>
                </a:solidFill>
                <a:ea typeface="Times New Roman"/>
                <a:cs typeface="Times New Roman"/>
                <a:sym typeface="Times New Roman"/>
              </a:rPr>
              <a:t>Федеральное государственное бюджетное образовательное учреждение</a:t>
            </a:r>
            <a:br>
              <a:rPr lang="ru-RU" sz="1600" b="1" dirty="0">
                <a:solidFill>
                  <a:schemeClr val="bg1"/>
                </a:solidFill>
                <a:ea typeface="Times New Roman"/>
                <a:cs typeface="Times New Roman"/>
                <a:sym typeface="Times New Roman"/>
              </a:rPr>
            </a:br>
            <a:r>
              <a:rPr lang="ru-RU" sz="1600" b="1" dirty="0">
                <a:solidFill>
                  <a:schemeClr val="bg1"/>
                </a:solidFill>
                <a:ea typeface="Times New Roman"/>
                <a:cs typeface="Times New Roman"/>
                <a:sym typeface="Times New Roman"/>
              </a:rPr>
              <a:t>высшего образования</a:t>
            </a:r>
          </a:p>
          <a:p>
            <a:pPr lvl="0" algn="ctr">
              <a:lnSpc>
                <a:spcPct val="150000"/>
              </a:lnSpc>
              <a:spcBef>
                <a:spcPts val="800"/>
              </a:spcBef>
              <a:buClr>
                <a:schemeClr val="dk2"/>
              </a:buClr>
              <a:buSzPct val="100000"/>
            </a:pPr>
            <a:r>
              <a:rPr lang="ru-RU" sz="1600" b="1" dirty="0">
                <a:solidFill>
                  <a:schemeClr val="bg1"/>
                </a:solidFill>
                <a:ea typeface="Times New Roman"/>
                <a:cs typeface="Times New Roman"/>
                <a:sym typeface="Times New Roman"/>
              </a:rPr>
              <a:t>«Заполярный государственный университет им </a:t>
            </a:r>
            <a:r>
              <a:rPr lang="ru-RU" sz="1600" b="1" dirty="0" err="1">
                <a:solidFill>
                  <a:schemeClr val="bg1"/>
                </a:solidFill>
                <a:ea typeface="Times New Roman"/>
                <a:cs typeface="Times New Roman"/>
                <a:sym typeface="Times New Roman"/>
              </a:rPr>
              <a:t>Н.М.Федоровского</a:t>
            </a:r>
            <a:r>
              <a:rPr lang="ru-RU" sz="1600" b="1" dirty="0">
                <a:solidFill>
                  <a:schemeClr val="bg1"/>
                </a:solidFill>
                <a:ea typeface="Times New Roman"/>
                <a:cs typeface="Times New Roman"/>
                <a:sym typeface="Times New Roman"/>
              </a:rPr>
              <a:t>»</a:t>
            </a:r>
          </a:p>
          <a:p>
            <a:pPr lvl="0" algn="ctr">
              <a:lnSpc>
                <a:spcPct val="150000"/>
              </a:lnSpc>
              <a:spcBef>
                <a:spcPts val="800"/>
              </a:spcBef>
              <a:buClr>
                <a:schemeClr val="dk2"/>
              </a:buClr>
              <a:buSzPct val="100000"/>
            </a:pPr>
            <a:r>
              <a:rPr lang="ru-RU" sz="1600" b="1" dirty="0">
                <a:solidFill>
                  <a:schemeClr val="bg1"/>
                </a:solidFill>
                <a:ea typeface="Times New Roman"/>
                <a:cs typeface="Times New Roman"/>
                <a:sym typeface="Times New Roman"/>
              </a:rPr>
              <a:t>Кафедра информационных систем и технологий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22175B-D058-4470-81FE-01616D0F67F4}"/>
              </a:ext>
            </a:extLst>
          </p:cNvPr>
          <p:cNvSpPr txBox="1"/>
          <p:nvPr/>
        </p:nvSpPr>
        <p:spPr>
          <a:xfrm>
            <a:off x="8640445" y="4688595"/>
            <a:ext cx="27519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</a:rPr>
              <a:t>Руководитель:</a:t>
            </a:r>
          </a:p>
          <a:p>
            <a:pPr algn="ctr"/>
            <a:r>
              <a:rPr lang="ru-RU" sz="2400" dirty="0">
                <a:solidFill>
                  <a:schemeClr val="bg1"/>
                </a:solidFill>
              </a:rPr>
              <a:t>Варламова Татьяна Евгеньевна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4291CD-04DB-4B23-89A5-F14DB25F0044}"/>
              </a:ext>
            </a:extLst>
          </p:cNvPr>
          <p:cNvSpPr txBox="1"/>
          <p:nvPr/>
        </p:nvSpPr>
        <p:spPr>
          <a:xfrm>
            <a:off x="5260352" y="6227410"/>
            <a:ext cx="1671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Норильск 2026</a:t>
            </a:r>
          </a:p>
        </p:txBody>
      </p:sp>
    </p:spTree>
    <p:extLst>
      <p:ext uri="{BB962C8B-B14F-4D97-AF65-F5344CB8AC3E}">
        <p14:creationId xmlns:p14="http://schemas.microsoft.com/office/powerpoint/2010/main" val="17026641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4B747A-BBE9-4078-9637-F8D26740570C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>
              <a:schemeClr val="accent1"/>
            </a:solidFill>
          </a:ln>
        </p:spPr>
        <p:txBody>
          <a:bodyPr/>
          <a:lstStyle/>
          <a:p>
            <a:pPr algn="ctr"/>
            <a:r>
              <a:rPr lang="ru-RU" b="1" dirty="0"/>
              <a:t>Цель и задачи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FEFA45A-6BC8-4A68-8570-498533483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082" y="2806339"/>
            <a:ext cx="5057503" cy="2410096"/>
          </a:xfrm>
          <a:ln w="28575">
            <a:solidFill>
              <a:schemeClr val="accent1"/>
            </a:solidFill>
          </a:ln>
        </p:spPr>
        <p:txBody>
          <a:bodyPr>
            <a:noAutofit/>
          </a:bodyPr>
          <a:lstStyle/>
          <a:p>
            <a:pPr marL="45720" indent="0" algn="ctr">
              <a:buNone/>
            </a:pPr>
            <a:r>
              <a:rPr lang="ru-RU" sz="2400" b="1" dirty="0">
                <a:latin typeface="+mj-lt"/>
              </a:rPr>
              <a:t>Задачи проекта</a:t>
            </a:r>
            <a:endParaRPr lang="ru-RU" sz="2400" b="1" i="0" dirty="0">
              <a:effectLst/>
              <a:latin typeface="+mj-lt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+mj-lt"/>
              </a:rPr>
              <a:t>Онлайн-продажи билетов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+mj-lt"/>
              </a:rPr>
              <a:t>Управления сеансами и залами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dirty="0">
                <a:latin typeface="+mj-lt"/>
              </a:rPr>
              <a:t>Система лояльности</a:t>
            </a:r>
            <a:endParaRPr lang="ru-RU" sz="2400" b="0" i="0" dirty="0">
              <a:effectLst/>
              <a:latin typeface="+mj-lt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+mj-lt"/>
              </a:rPr>
              <a:t>Генерации аналитики</a:t>
            </a:r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6485A437-DFEB-48CF-ABB0-38DB165D3629}"/>
              </a:ext>
            </a:extLst>
          </p:cNvPr>
          <p:cNvSpPr txBox="1">
            <a:spLocks/>
          </p:cNvSpPr>
          <p:nvPr/>
        </p:nvSpPr>
        <p:spPr>
          <a:xfrm>
            <a:off x="881742" y="2817226"/>
            <a:ext cx="5057503" cy="2399209"/>
          </a:xfrm>
          <a:prstGeom prst="rect">
            <a:avLst/>
          </a:prstGeom>
          <a:ln w="28575"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18288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Clr>
                <a:schemeClr val="accent1"/>
              </a:buClr>
              <a:buSzPct val="80000"/>
              <a:buFont typeface="Corbel" pitchFamily="34" charset="0"/>
              <a:buChar char="•"/>
              <a:defRPr sz="2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8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" indent="0" algn="ctr">
              <a:buFont typeface="Corbel" pitchFamily="34" charset="0"/>
              <a:buNone/>
            </a:pPr>
            <a:r>
              <a:rPr lang="ru-RU" sz="2400" b="1" dirty="0">
                <a:latin typeface="+mj-lt"/>
              </a:rPr>
              <a:t>Цель</a:t>
            </a:r>
          </a:p>
          <a:p>
            <a:pPr marL="45720" indent="0">
              <a:buFont typeface="Corbel" pitchFamily="34" charset="0"/>
              <a:buNone/>
            </a:pPr>
            <a:r>
              <a:rPr lang="ru-RU" sz="2400" dirty="0">
                <a:latin typeface="+mj-lt"/>
              </a:rPr>
              <a:t>Разработка полнофункциональной информационной системы кинотеатра «НОРА» на основе реляционной модели данных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D6FB80-E79B-4D31-93A1-7441571370C7}"/>
              </a:ext>
            </a:extLst>
          </p:cNvPr>
          <p:cNvSpPr txBox="1"/>
          <p:nvPr/>
        </p:nvSpPr>
        <p:spPr>
          <a:xfrm>
            <a:off x="11573691" y="6235338"/>
            <a:ext cx="372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2</a:t>
            </a:r>
            <a:endParaRPr lang="ru-RU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5733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8D4971-B5C1-4C7C-AADE-1B88E02C6653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>
              <a:srgbClr val="0070C0"/>
            </a:solidFill>
          </a:ln>
        </p:spPr>
        <p:txBody>
          <a:bodyPr/>
          <a:lstStyle/>
          <a:p>
            <a:pPr algn="ctr"/>
            <a:r>
              <a:rPr lang="ru-RU" b="1" dirty="0"/>
              <a:t>Предметная область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4703D3-9DC3-4608-9805-7DAE1608F5D2}"/>
              </a:ext>
            </a:extLst>
          </p:cNvPr>
          <p:cNvSpPr txBox="1"/>
          <p:nvPr/>
        </p:nvSpPr>
        <p:spPr>
          <a:xfrm>
            <a:off x="11573691" y="6235338"/>
            <a:ext cx="372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3</a:t>
            </a:r>
            <a:endParaRPr lang="ru-RU" dirty="0">
              <a:solidFill>
                <a:schemeClr val="accent1"/>
              </a:solidFill>
            </a:endParaRP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B68563D9-63A5-42B4-8EE6-0A278807A6F9}"/>
              </a:ext>
            </a:extLst>
          </p:cNvPr>
          <p:cNvSpPr txBox="1">
            <a:spLocks/>
          </p:cNvSpPr>
          <p:nvPr/>
        </p:nvSpPr>
        <p:spPr>
          <a:xfrm>
            <a:off x="916577" y="3135087"/>
            <a:ext cx="3150321" cy="2917371"/>
          </a:xfrm>
          <a:prstGeom prst="rect">
            <a:avLst/>
          </a:prstGeom>
          <a:ln w="28575">
            <a:solidFill>
              <a:schemeClr val="accent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18288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Clr>
                <a:schemeClr val="accent1"/>
              </a:buClr>
              <a:buSzPct val="80000"/>
              <a:buFont typeface="Corbel" pitchFamily="34" charset="0"/>
              <a:buChar char="•"/>
              <a:defRPr sz="2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8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" indent="0" algn="ctr">
              <a:buFont typeface="Corbel" pitchFamily="34" charset="0"/>
              <a:buNone/>
            </a:pPr>
            <a:r>
              <a:rPr lang="ru-RU" sz="2400" b="1" dirty="0">
                <a:latin typeface="+mj-lt"/>
              </a:rPr>
              <a:t>Кинотеатр</a:t>
            </a:r>
          </a:p>
          <a:p>
            <a:r>
              <a:rPr lang="ru-RU" sz="2400" dirty="0">
                <a:latin typeface="+mj-lt"/>
              </a:rPr>
              <a:t>Сеансы</a:t>
            </a:r>
          </a:p>
          <a:p>
            <a:r>
              <a:rPr lang="ru-RU" sz="2400" dirty="0">
                <a:latin typeface="+mj-lt"/>
              </a:rPr>
              <a:t>Фильмы</a:t>
            </a:r>
          </a:p>
          <a:p>
            <a:r>
              <a:rPr lang="ru-RU" sz="2400" dirty="0">
                <a:latin typeface="+mj-lt"/>
              </a:rPr>
              <a:t>Залы</a:t>
            </a:r>
          </a:p>
          <a:p>
            <a:r>
              <a:rPr lang="ru-RU" sz="2400" dirty="0">
                <a:latin typeface="+mj-lt"/>
              </a:rPr>
              <a:t>Билеты </a:t>
            </a:r>
          </a:p>
          <a:p>
            <a:r>
              <a:rPr lang="ru-RU" sz="2400" dirty="0">
                <a:latin typeface="+mj-lt"/>
              </a:rPr>
              <a:t>Пользователи</a:t>
            </a:r>
          </a:p>
          <a:p>
            <a:r>
              <a:rPr lang="ru-RU" sz="2400" dirty="0">
                <a:latin typeface="+mj-lt"/>
              </a:rPr>
              <a:t>Бронирование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1ECF1C66-88D6-41AA-9738-C5CE40236C83}"/>
              </a:ext>
            </a:extLst>
          </p:cNvPr>
          <p:cNvSpPr txBox="1">
            <a:spLocks/>
          </p:cNvSpPr>
          <p:nvPr/>
        </p:nvSpPr>
        <p:spPr>
          <a:xfrm>
            <a:off x="4582888" y="3135086"/>
            <a:ext cx="3150322" cy="2917371"/>
          </a:xfrm>
          <a:prstGeom prst="rect">
            <a:avLst/>
          </a:prstGeom>
          <a:ln w="28575"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18288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Clr>
                <a:schemeClr val="accent1"/>
              </a:buClr>
              <a:buSzPct val="80000"/>
              <a:buFont typeface="Corbel" pitchFamily="34" charset="0"/>
              <a:buChar char="•"/>
              <a:defRPr sz="2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8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" indent="0" algn="ctr">
              <a:buFont typeface="Corbel" pitchFamily="34" charset="0"/>
              <a:buNone/>
            </a:pPr>
            <a:r>
              <a:rPr lang="ru-RU" sz="2400" b="1" dirty="0">
                <a:latin typeface="+mj-lt"/>
              </a:rPr>
              <a:t>Участники</a:t>
            </a:r>
          </a:p>
          <a:p>
            <a:r>
              <a:rPr lang="ru-RU" sz="2400" dirty="0">
                <a:latin typeface="+mj-lt"/>
              </a:rPr>
              <a:t>Администраторы</a:t>
            </a:r>
          </a:p>
          <a:p>
            <a:r>
              <a:rPr lang="ru-RU" sz="2400" dirty="0">
                <a:latin typeface="+mj-lt"/>
              </a:rPr>
              <a:t>Зрители</a:t>
            </a:r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3AE92D34-C771-4CE9-A75A-662C659354E6}"/>
              </a:ext>
            </a:extLst>
          </p:cNvPr>
          <p:cNvSpPr txBox="1">
            <a:spLocks/>
          </p:cNvSpPr>
          <p:nvPr/>
        </p:nvSpPr>
        <p:spPr>
          <a:xfrm>
            <a:off x="8249197" y="3130732"/>
            <a:ext cx="3150323" cy="2917371"/>
          </a:xfrm>
          <a:prstGeom prst="rect">
            <a:avLst/>
          </a:prstGeom>
          <a:ln w="28575"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18288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Clr>
                <a:schemeClr val="accent1"/>
              </a:buClr>
              <a:buSzPct val="80000"/>
              <a:buFont typeface="Corbel" pitchFamily="34" charset="0"/>
              <a:buChar char="•"/>
              <a:defRPr sz="2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8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Corbel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" indent="0" algn="ctr">
              <a:buFont typeface="Corbel" pitchFamily="34" charset="0"/>
              <a:buNone/>
            </a:pPr>
            <a:r>
              <a:rPr lang="ru-RU" sz="2400" b="1" dirty="0">
                <a:latin typeface="+mj-lt"/>
              </a:rPr>
              <a:t>Основные процессы</a:t>
            </a:r>
          </a:p>
          <a:p>
            <a:r>
              <a:rPr lang="ru-RU" sz="2400" dirty="0">
                <a:latin typeface="+mj-lt"/>
              </a:rPr>
              <a:t>Продажа билетов</a:t>
            </a:r>
          </a:p>
          <a:p>
            <a:r>
              <a:rPr lang="ru-RU" sz="2400" dirty="0">
                <a:latin typeface="+mj-lt"/>
              </a:rPr>
              <a:t>Составление расписания</a:t>
            </a:r>
          </a:p>
          <a:p>
            <a:r>
              <a:rPr lang="ru-RU" sz="2400" dirty="0">
                <a:latin typeface="+mj-lt"/>
              </a:rPr>
              <a:t>Аналитика посещаемости</a:t>
            </a:r>
          </a:p>
        </p:txBody>
      </p:sp>
    </p:spTree>
    <p:extLst>
      <p:ext uri="{BB962C8B-B14F-4D97-AF65-F5344CB8AC3E}">
        <p14:creationId xmlns:p14="http://schemas.microsoft.com/office/powerpoint/2010/main" val="772138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A93B1D-B270-43B5-836C-87A87240C9F0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>
              <a:schemeClr val="accent1"/>
            </a:solidFill>
          </a:ln>
        </p:spPr>
        <p:txBody>
          <a:bodyPr/>
          <a:lstStyle/>
          <a:p>
            <a:pPr algn="ctr"/>
            <a:r>
              <a:rPr lang="ru-RU" b="1" dirty="0"/>
              <a:t>Системный анализ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509B26-E06E-48F0-B104-EC4A614D490D}"/>
              </a:ext>
            </a:extLst>
          </p:cNvPr>
          <p:cNvSpPr txBox="1"/>
          <p:nvPr/>
        </p:nvSpPr>
        <p:spPr>
          <a:xfrm>
            <a:off x="11573691" y="6235338"/>
            <a:ext cx="372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4</a:t>
            </a:r>
            <a:endParaRPr lang="ru-RU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54788C-294B-4140-975A-46556B8992D9}"/>
              </a:ext>
            </a:extLst>
          </p:cNvPr>
          <p:cNvSpPr txBox="1"/>
          <p:nvPr/>
        </p:nvSpPr>
        <p:spPr>
          <a:xfrm>
            <a:off x="4697518" y="2364761"/>
            <a:ext cx="658368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1" i="0" dirty="0">
                <a:solidFill>
                  <a:schemeClr val="accent1"/>
                </a:solidFill>
                <a:effectLst/>
                <a:latin typeface="+mj-lt"/>
              </a:rPr>
              <a:t>Выявлены сущности</a:t>
            </a:r>
            <a:r>
              <a:rPr lang="ru-RU" sz="2400" b="0" i="0" dirty="0">
                <a:solidFill>
                  <a:schemeClr val="accent1"/>
                </a:solidFill>
                <a:effectLst/>
                <a:latin typeface="+mj-lt"/>
              </a:rPr>
              <a:t>: фильм, жанры, кинозал, сеанс, билет, место, бонусные баллы, пользователь</a:t>
            </a:r>
            <a:endParaRPr lang="en-US" sz="2400" dirty="0">
              <a:solidFill>
                <a:schemeClr val="accent1"/>
              </a:solidFill>
              <a:latin typeface="+mj-lt"/>
            </a:endParaRPr>
          </a:p>
          <a:p>
            <a:pPr algn="l"/>
            <a:endParaRPr lang="ru-RU" sz="2400" b="0" i="0" dirty="0">
              <a:solidFill>
                <a:schemeClr val="accent1"/>
              </a:solidFill>
              <a:effectLst/>
              <a:latin typeface="+mj-lt"/>
            </a:endParaRPr>
          </a:p>
          <a:p>
            <a:pPr algn="l"/>
            <a:r>
              <a:rPr lang="ru-RU" sz="2400" b="1" i="0" dirty="0">
                <a:solidFill>
                  <a:schemeClr val="accent1"/>
                </a:solidFill>
                <a:effectLst/>
                <a:latin typeface="+mj-lt"/>
              </a:rPr>
              <a:t>Определены бизнес-правила</a:t>
            </a:r>
            <a:r>
              <a:rPr lang="ru-RU" sz="2400" b="0" i="0" dirty="0">
                <a:solidFill>
                  <a:schemeClr val="accent1"/>
                </a:solidFill>
                <a:effectLst/>
                <a:latin typeface="+mj-lt"/>
              </a:rPr>
              <a:t>:</a:t>
            </a:r>
            <a:br>
              <a:rPr lang="ru-RU" sz="2400" b="0" i="0" dirty="0">
                <a:solidFill>
                  <a:schemeClr val="accent1"/>
                </a:solidFill>
                <a:effectLst/>
                <a:latin typeface="+mj-lt"/>
              </a:rPr>
            </a:br>
            <a:r>
              <a:rPr lang="ru-RU" sz="2400" b="0" i="0" dirty="0">
                <a:solidFill>
                  <a:schemeClr val="accent1"/>
                </a:solidFill>
                <a:effectLst/>
                <a:latin typeface="+mj-lt"/>
              </a:rPr>
              <a:t>Один сеанс </a:t>
            </a:r>
            <a:r>
              <a:rPr lang="en-US" sz="2400" b="0" i="0" dirty="0">
                <a:solidFill>
                  <a:schemeClr val="accent1"/>
                </a:solidFill>
                <a:effectLst/>
                <a:latin typeface="+mj-lt"/>
              </a:rPr>
              <a:t>-</a:t>
            </a:r>
            <a:r>
              <a:rPr lang="ru-RU" sz="2400" b="0" i="0" dirty="0">
                <a:solidFill>
                  <a:schemeClr val="accent1"/>
                </a:solidFill>
                <a:effectLst/>
                <a:latin typeface="+mj-lt"/>
              </a:rPr>
              <a:t> один фильм и один зал</a:t>
            </a:r>
            <a:br>
              <a:rPr lang="ru-RU" sz="2400" b="0" i="0" dirty="0">
                <a:solidFill>
                  <a:schemeClr val="accent1"/>
                </a:solidFill>
                <a:effectLst/>
                <a:latin typeface="+mj-lt"/>
              </a:rPr>
            </a:br>
            <a:r>
              <a:rPr lang="ru-RU" sz="2400" b="0" i="0" dirty="0">
                <a:solidFill>
                  <a:schemeClr val="accent1"/>
                </a:solidFill>
                <a:effectLst/>
                <a:latin typeface="+mj-lt"/>
              </a:rPr>
              <a:t>Один билет </a:t>
            </a:r>
            <a:r>
              <a:rPr lang="en-US" sz="2400" b="0" i="0" dirty="0">
                <a:solidFill>
                  <a:schemeClr val="accent1"/>
                </a:solidFill>
                <a:effectLst/>
                <a:latin typeface="+mj-lt"/>
              </a:rPr>
              <a:t>-</a:t>
            </a:r>
            <a:r>
              <a:rPr lang="ru-RU" sz="2400" b="0" i="0" dirty="0">
                <a:solidFill>
                  <a:schemeClr val="accent1"/>
                </a:solidFill>
                <a:effectLst/>
                <a:latin typeface="+mj-lt"/>
              </a:rPr>
              <a:t> одна позиция в зале на один сеанс</a:t>
            </a:r>
            <a:endParaRPr lang="en-US" sz="2400" b="0" i="0" dirty="0">
              <a:solidFill>
                <a:schemeClr val="accent1"/>
              </a:solidFill>
              <a:effectLst/>
              <a:latin typeface="+mj-lt"/>
            </a:endParaRPr>
          </a:p>
          <a:p>
            <a:pPr algn="l"/>
            <a:endParaRPr lang="ru-RU" sz="2400" b="0" i="0" dirty="0">
              <a:solidFill>
                <a:schemeClr val="accent1"/>
              </a:solidFill>
              <a:effectLst/>
              <a:latin typeface="+mj-lt"/>
            </a:endParaRPr>
          </a:p>
          <a:p>
            <a:pPr algn="l"/>
            <a:r>
              <a:rPr lang="ru-RU" sz="2400" b="1" i="0" dirty="0" err="1">
                <a:solidFill>
                  <a:schemeClr val="accent1"/>
                </a:solidFill>
                <a:effectLst/>
                <a:latin typeface="+mj-lt"/>
              </a:rPr>
              <a:t>Use</a:t>
            </a:r>
            <a:r>
              <a:rPr lang="ru-RU" sz="2400" b="1" i="0" dirty="0">
                <a:solidFill>
                  <a:schemeClr val="accent1"/>
                </a:solidFill>
                <a:effectLst/>
                <a:latin typeface="+mj-lt"/>
              </a:rPr>
              <a:t>-кейсы</a:t>
            </a:r>
            <a:r>
              <a:rPr lang="ru-RU" sz="2400" b="0" i="0" dirty="0">
                <a:solidFill>
                  <a:schemeClr val="accent1"/>
                </a:solidFill>
                <a:effectLst/>
                <a:latin typeface="+mj-lt"/>
              </a:rPr>
              <a:t>: регистрация, бронирование, отмена бронирования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745CE6D-1920-42D6-842D-DB6C7AFA37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02" y="2551796"/>
            <a:ext cx="3402875" cy="3402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2734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AA1245-0612-4A35-8710-1CB6D873936F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solidFill>
              <a:schemeClr val="accent1"/>
            </a:solidFill>
          </a:ln>
        </p:spPr>
        <p:txBody>
          <a:bodyPr/>
          <a:lstStyle/>
          <a:p>
            <a:pPr algn="ctr"/>
            <a:r>
              <a:rPr lang="ru-RU" b="1" dirty="0"/>
              <a:t>Используемые технологии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3B2276-3252-493F-8CD6-CB573EFB7AA6}"/>
              </a:ext>
            </a:extLst>
          </p:cNvPr>
          <p:cNvSpPr txBox="1"/>
          <p:nvPr/>
        </p:nvSpPr>
        <p:spPr>
          <a:xfrm>
            <a:off x="11573691" y="6235338"/>
            <a:ext cx="372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5</a:t>
            </a:r>
            <a:endParaRPr lang="ru-RU" dirty="0">
              <a:solidFill>
                <a:schemeClr val="accent1"/>
              </a:solidFill>
            </a:endParaRPr>
          </a:p>
        </p:txBody>
      </p:sp>
      <p:pic>
        <p:nvPicPr>
          <p:cNvPr id="2050" name="Picture 2" descr="Руководство по PostgreSQL | Рег.ру">
            <a:extLst>
              <a:ext uri="{FF2B5EF4-FFF2-40B4-BE49-F238E27FC236}">
                <a16:creationId xmlns:a16="http://schemas.microsoft.com/office/drawing/2014/main" id="{EFA2B942-068C-4336-8516-066CA81779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395" y="3549192"/>
            <a:ext cx="1568468" cy="1743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597023A6-4B35-4494-BF0F-24F9B3196327}"/>
              </a:ext>
            </a:extLst>
          </p:cNvPr>
          <p:cNvGrpSpPr/>
          <p:nvPr/>
        </p:nvGrpSpPr>
        <p:grpSpPr>
          <a:xfrm>
            <a:off x="3387555" y="3062394"/>
            <a:ext cx="2321187" cy="1743685"/>
            <a:chOff x="2872481" y="3413506"/>
            <a:chExt cx="2992751" cy="2291223"/>
          </a:xfrm>
        </p:grpSpPr>
        <p:pic>
          <p:nvPicPr>
            <p:cNvPr id="2052" name="Picture 4" descr="Django Dj Logo Png">
              <a:extLst>
                <a:ext uri="{FF2B5EF4-FFF2-40B4-BE49-F238E27FC236}">
                  <a16:creationId xmlns:a16="http://schemas.microsoft.com/office/drawing/2014/main" id="{E044BB82-4766-4602-9EB2-6A35842341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77008" y="3457581"/>
              <a:ext cx="1588224" cy="11911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 descr="Python Logo y símbolo, significado, historia, PNG, marca">
              <a:extLst>
                <a:ext uri="{FF2B5EF4-FFF2-40B4-BE49-F238E27FC236}">
                  <a16:creationId xmlns:a16="http://schemas.microsoft.com/office/drawing/2014/main" id="{CC509092-4E6E-4FEE-A71E-F217C7B9BA1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72481" y="3413506"/>
              <a:ext cx="1914862" cy="11734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6" name="Picture 8" descr="Django Rest Framework">
              <a:extLst>
                <a:ext uri="{FF2B5EF4-FFF2-40B4-BE49-F238E27FC236}">
                  <a16:creationId xmlns:a16="http://schemas.microsoft.com/office/drawing/2014/main" id="{B702D266-3C03-4E8D-806E-D6B2844AAD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50820" y="4586950"/>
              <a:ext cx="1117779" cy="11177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8" name="Picture 10" descr="Docker Logo, symbol, meaning, history, PNG, brand">
            <a:extLst>
              <a:ext uri="{FF2B5EF4-FFF2-40B4-BE49-F238E27FC236}">
                <a16:creationId xmlns:a16="http://schemas.microsoft.com/office/drawing/2014/main" id="{A6BB4FCE-ADF8-43A4-9ACE-EB0877E36A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577" y="3635758"/>
            <a:ext cx="2434257" cy="1369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DAEAEF1-6BD8-4E28-9CD1-7BAB6E2C3E2D}"/>
              </a:ext>
            </a:extLst>
          </p:cNvPr>
          <p:cNvSpPr txBox="1"/>
          <p:nvPr/>
        </p:nvSpPr>
        <p:spPr>
          <a:xfrm>
            <a:off x="1031818" y="2314122"/>
            <a:ext cx="16428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База данных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F9C6FB-0568-43E0-A17E-971DB468896C}"/>
              </a:ext>
            </a:extLst>
          </p:cNvPr>
          <p:cNvSpPr txBox="1"/>
          <p:nvPr/>
        </p:nvSpPr>
        <p:spPr>
          <a:xfrm>
            <a:off x="4023819" y="2201357"/>
            <a:ext cx="12632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1"/>
                </a:solidFill>
              </a:rPr>
              <a:t>Backend /</a:t>
            </a:r>
          </a:p>
          <a:p>
            <a:pPr algn="ctr"/>
            <a:r>
              <a:rPr lang="en-US" sz="2000" b="1" dirty="0">
                <a:solidFill>
                  <a:schemeClr val="accent1"/>
                </a:solidFill>
              </a:rPr>
              <a:t>Frontend</a:t>
            </a:r>
            <a:endParaRPr lang="ru-RU" sz="2000" b="1" dirty="0">
              <a:solidFill>
                <a:schemeClr val="accent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3E8AD7-8C66-448C-AD7A-8D136B3698F3}"/>
              </a:ext>
            </a:extLst>
          </p:cNvPr>
          <p:cNvSpPr txBox="1"/>
          <p:nvPr/>
        </p:nvSpPr>
        <p:spPr>
          <a:xfrm>
            <a:off x="6468836" y="2314122"/>
            <a:ext cx="22357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Контейнеризация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9D94B2-CB65-45FE-9E1E-522EFE5F4612}"/>
              </a:ext>
            </a:extLst>
          </p:cNvPr>
          <p:cNvSpPr txBox="1"/>
          <p:nvPr/>
        </p:nvSpPr>
        <p:spPr>
          <a:xfrm>
            <a:off x="9335480" y="2052512"/>
            <a:ext cx="198716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Контроль версий</a:t>
            </a:r>
            <a:r>
              <a:rPr lang="en-US" sz="2000" b="1" dirty="0">
                <a:solidFill>
                  <a:schemeClr val="accent1"/>
                </a:solidFill>
              </a:rPr>
              <a:t>/</a:t>
            </a:r>
            <a:endParaRPr lang="ru-RU" sz="2000" b="1" dirty="0">
              <a:solidFill>
                <a:schemeClr val="accent1"/>
              </a:solidFill>
            </a:endParaRPr>
          </a:p>
          <a:p>
            <a:pPr algn="ctr"/>
            <a:r>
              <a:rPr lang="ru-RU" sz="2000" b="1" dirty="0">
                <a:solidFill>
                  <a:schemeClr val="accent1"/>
                </a:solidFill>
              </a:rPr>
              <a:t>Совместная разработка</a:t>
            </a:r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B6063399-947E-417E-97E5-87F6382144F2}"/>
              </a:ext>
            </a:extLst>
          </p:cNvPr>
          <p:cNvGrpSpPr/>
          <p:nvPr/>
        </p:nvGrpSpPr>
        <p:grpSpPr>
          <a:xfrm>
            <a:off x="9017800" y="3834312"/>
            <a:ext cx="2742370" cy="1173444"/>
            <a:chOff x="9182885" y="4383711"/>
            <a:chExt cx="2742370" cy="1173444"/>
          </a:xfrm>
        </p:grpSpPr>
        <p:pic>
          <p:nvPicPr>
            <p:cNvPr id="2060" name="Picture 12" descr="GitHub Logo, symbol, meaning, history, PNG, brand">
              <a:extLst>
                <a:ext uri="{FF2B5EF4-FFF2-40B4-BE49-F238E27FC236}">
                  <a16:creationId xmlns:a16="http://schemas.microsoft.com/office/drawing/2014/main" id="{A33C08B4-0A39-4211-BB70-1408931CD4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38094" y="4436648"/>
              <a:ext cx="1987161" cy="11177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66" name="Picture 18" descr="git Vector Icons free download in SVG, PNG Format">
              <a:extLst>
                <a:ext uri="{FF2B5EF4-FFF2-40B4-BE49-F238E27FC236}">
                  <a16:creationId xmlns:a16="http://schemas.microsoft.com/office/drawing/2014/main" id="{317A125E-872C-44DB-960D-BA400AB3F3F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82885" y="4383711"/>
              <a:ext cx="1173444" cy="11734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68" name="Picture 20" descr="Can HTML, CSS and JavaScript create a website? | UltimateWB Blog | Web  Design Tips, News &amp; Insights">
            <a:extLst>
              <a:ext uri="{FF2B5EF4-FFF2-40B4-BE49-F238E27FC236}">
                <a16:creationId xmlns:a16="http://schemas.microsoft.com/office/drawing/2014/main" id="{E7B3F28A-30DA-45BA-880C-E1FD7364BD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5816" y="5112381"/>
            <a:ext cx="2088036" cy="1173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07669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65E7FA-5470-492C-8338-C30D2DC50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240" y="348343"/>
            <a:ext cx="9875520" cy="627017"/>
          </a:xfrm>
          <a:ln>
            <a:solidFill>
              <a:schemeClr val="accent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Логическая модель базы данных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8D3F777-53DD-419C-BAB3-90C635518E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43" y="1635949"/>
            <a:ext cx="2708365" cy="431367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D47EADE-90A4-415E-B087-37183E0FFD72}"/>
              </a:ext>
            </a:extLst>
          </p:cNvPr>
          <p:cNvSpPr txBox="1"/>
          <p:nvPr/>
        </p:nvSpPr>
        <p:spPr>
          <a:xfrm>
            <a:off x="11573691" y="6235338"/>
            <a:ext cx="372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6</a:t>
            </a:r>
            <a:endParaRPr lang="ru-RU" dirty="0">
              <a:solidFill>
                <a:schemeClr val="accent1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9DED94F-B8DB-4D09-ACD1-DDE489DC57BB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3657600" y="1132318"/>
            <a:ext cx="7916091" cy="532093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57575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39F6F60E-23F1-40D2-8F6A-7A1593A04A66}"/>
              </a:ext>
            </a:extLst>
          </p:cNvPr>
          <p:cNvSpPr txBox="1">
            <a:spLocks/>
          </p:cNvSpPr>
          <p:nvPr/>
        </p:nvSpPr>
        <p:spPr>
          <a:xfrm>
            <a:off x="1158240" y="348343"/>
            <a:ext cx="9875520" cy="627017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b="1" dirty="0"/>
              <a:t>Физическая модель базы данных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CB98D32-E34D-4038-BB6C-F65738FC2620}"/>
              </a:ext>
            </a:extLst>
          </p:cNvPr>
          <p:cNvSpPr txBox="1"/>
          <p:nvPr/>
        </p:nvSpPr>
        <p:spPr>
          <a:xfrm>
            <a:off x="11573691" y="6235338"/>
            <a:ext cx="372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7</a:t>
            </a:r>
            <a:endParaRPr lang="ru-RU" dirty="0">
              <a:solidFill>
                <a:schemeClr val="accent1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7D339CB-06B2-4BE1-B90F-3E7A0F11A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9301" y="1901097"/>
            <a:ext cx="5134459" cy="412488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9DDD848-8450-41F4-9F89-28447CCD85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240" y="3587932"/>
            <a:ext cx="4512839" cy="24380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5455A7-84DF-4A9A-AA87-89F1BDF8F19C}"/>
              </a:ext>
            </a:extLst>
          </p:cNvPr>
          <p:cNvSpPr txBox="1"/>
          <p:nvPr/>
        </p:nvSpPr>
        <p:spPr>
          <a:xfrm>
            <a:off x="1158240" y="1901097"/>
            <a:ext cx="4512839" cy="147732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chemeClr val="accent1"/>
                </a:solidFill>
              </a:rPr>
              <a:t>Таблицы: 13</a:t>
            </a:r>
          </a:p>
          <a:p>
            <a:r>
              <a:rPr lang="ru-RU" b="1" dirty="0">
                <a:solidFill>
                  <a:schemeClr val="accent1"/>
                </a:solidFill>
              </a:rPr>
              <a:t>Индексов: </a:t>
            </a:r>
            <a:r>
              <a:rPr lang="en-US" b="1" dirty="0">
                <a:solidFill>
                  <a:schemeClr val="accent1"/>
                </a:solidFill>
              </a:rPr>
              <a:t>30</a:t>
            </a:r>
            <a:r>
              <a:rPr lang="ru-RU" b="1" dirty="0">
                <a:solidFill>
                  <a:schemeClr val="accent1"/>
                </a:solidFill>
              </a:rPr>
              <a:t> </a:t>
            </a:r>
          </a:p>
          <a:p>
            <a:r>
              <a:rPr lang="ru-RU" b="1" dirty="0">
                <a:solidFill>
                  <a:schemeClr val="accent1"/>
                </a:solidFill>
              </a:rPr>
              <a:t>Представления: 5</a:t>
            </a:r>
          </a:p>
          <a:p>
            <a:r>
              <a:rPr lang="ru-RU" b="1" dirty="0">
                <a:solidFill>
                  <a:schemeClr val="accent1"/>
                </a:solidFill>
              </a:rPr>
              <a:t>Триггеры: 5</a:t>
            </a:r>
          </a:p>
          <a:p>
            <a:r>
              <a:rPr lang="ru-RU" b="1" dirty="0">
                <a:solidFill>
                  <a:schemeClr val="accent1"/>
                </a:solidFill>
              </a:rPr>
              <a:t>Функции: 5</a:t>
            </a:r>
          </a:p>
        </p:txBody>
      </p:sp>
    </p:spTree>
    <p:extLst>
      <p:ext uri="{BB962C8B-B14F-4D97-AF65-F5344CB8AC3E}">
        <p14:creationId xmlns:p14="http://schemas.microsoft.com/office/powerpoint/2010/main" val="11313387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8F959404-9576-431B-B3CF-01080B6F2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511" y="618309"/>
            <a:ext cx="10212977" cy="1356360"/>
          </a:xfrm>
          <a:ln>
            <a:solidFill>
              <a:schemeClr val="accent1"/>
            </a:solidFill>
          </a:ln>
        </p:spPr>
        <p:txBody>
          <a:bodyPr/>
          <a:lstStyle/>
          <a:p>
            <a:pPr algn="ctr"/>
            <a:r>
              <a:rPr lang="ru-RU" b="1" dirty="0"/>
              <a:t>Аналитика </a:t>
            </a:r>
            <a:r>
              <a:rPr lang="en-US" b="1" dirty="0"/>
              <a:t>SQL</a:t>
            </a:r>
            <a:r>
              <a:rPr lang="ru-RU" b="1" dirty="0"/>
              <a:t>-структуры базы данных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44B9FC-E216-4862-BA4B-F20FD0AFF379}"/>
              </a:ext>
            </a:extLst>
          </p:cNvPr>
          <p:cNvSpPr txBox="1"/>
          <p:nvPr/>
        </p:nvSpPr>
        <p:spPr>
          <a:xfrm>
            <a:off x="11573691" y="6235338"/>
            <a:ext cx="372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8</a:t>
            </a:r>
            <a:endParaRPr lang="ru-RU" dirty="0">
              <a:solidFill>
                <a:schemeClr val="accent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7BF5CC-B2D4-49E2-848E-8CCF38DD1F01}"/>
              </a:ext>
            </a:extLst>
          </p:cNvPr>
          <p:cNvSpPr txBox="1"/>
          <p:nvPr/>
        </p:nvSpPr>
        <p:spPr>
          <a:xfrm>
            <a:off x="1146264" y="2804159"/>
            <a:ext cx="4853940" cy="286232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chemeClr val="accent1"/>
                </a:solidFill>
              </a:rPr>
              <a:t>✅Чёткая нормализация</a:t>
            </a:r>
            <a:r>
              <a:rPr lang="ru-RU" dirty="0">
                <a:solidFill>
                  <a:schemeClr val="accent1"/>
                </a:solidFill>
              </a:rPr>
              <a:t>: данные не дублируются, соответствуют 3НФ</a:t>
            </a:r>
          </a:p>
          <a:p>
            <a:endParaRPr lang="ru-RU" dirty="0">
              <a:solidFill>
                <a:schemeClr val="accent1"/>
              </a:solidFill>
            </a:endParaRPr>
          </a:p>
          <a:p>
            <a:r>
              <a:rPr lang="ru-RU" b="1" dirty="0">
                <a:solidFill>
                  <a:schemeClr val="accent1"/>
                </a:solidFill>
              </a:rPr>
              <a:t>🔗Целостность связей</a:t>
            </a:r>
            <a:r>
              <a:rPr lang="ru-RU" dirty="0">
                <a:solidFill>
                  <a:schemeClr val="accent1"/>
                </a:solidFill>
              </a:rPr>
              <a:t>: использование </a:t>
            </a:r>
            <a:r>
              <a:rPr lang="en-US" dirty="0">
                <a:solidFill>
                  <a:schemeClr val="accent1"/>
                </a:solidFill>
              </a:rPr>
              <a:t>ON DELETE RESTRICT/CASCADE</a:t>
            </a:r>
            <a:endParaRPr lang="ru-RU" dirty="0">
              <a:solidFill>
                <a:schemeClr val="accent1"/>
              </a:solidFill>
            </a:endParaRP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ru-RU" b="1" dirty="0">
                <a:solidFill>
                  <a:schemeClr val="accent1"/>
                </a:solidFill>
              </a:rPr>
              <a:t>🛡️Ограничения</a:t>
            </a:r>
            <a:r>
              <a:rPr lang="ru-RU" dirty="0">
                <a:solidFill>
                  <a:schemeClr val="accent1"/>
                </a:solidFill>
              </a:rPr>
              <a:t>: функции и </a:t>
            </a:r>
            <a:r>
              <a:rPr lang="en-US" dirty="0">
                <a:solidFill>
                  <a:schemeClr val="accent1"/>
                </a:solidFill>
              </a:rPr>
              <a:t>UNIQUE</a:t>
            </a:r>
            <a:endParaRPr lang="ru-RU" dirty="0">
              <a:solidFill>
                <a:schemeClr val="accent1"/>
              </a:solidFill>
            </a:endParaRP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en-US" b="1" dirty="0">
                <a:solidFill>
                  <a:schemeClr val="accent1"/>
                </a:solidFill>
              </a:rPr>
              <a:t>⏱️</a:t>
            </a:r>
            <a:r>
              <a:rPr lang="ru-RU" b="1" dirty="0">
                <a:solidFill>
                  <a:schemeClr val="accent1"/>
                </a:solidFill>
              </a:rPr>
              <a:t>Автоматика</a:t>
            </a:r>
            <a:r>
              <a:rPr lang="ru-RU" dirty="0">
                <a:solidFill>
                  <a:schemeClr val="accent1"/>
                </a:solidFill>
              </a:rPr>
              <a:t>: триггеры обновляют поля </a:t>
            </a:r>
            <a:r>
              <a:rPr lang="en-US" dirty="0" err="1">
                <a:solidFill>
                  <a:schemeClr val="accent1"/>
                </a:solidFill>
              </a:rPr>
              <a:t>updated_at</a:t>
            </a:r>
            <a:r>
              <a:rPr lang="ru-RU" dirty="0">
                <a:solidFill>
                  <a:schemeClr val="accent1"/>
                </a:solidFill>
              </a:rPr>
              <a:t> </a:t>
            </a:r>
          </a:p>
        </p:txBody>
      </p:sp>
      <p:pic>
        <p:nvPicPr>
          <p:cNvPr id="1030" name="Picture 6" descr="Веб-аналитика - что это такое простыми словами и как посмотреть аналитику  сайта">
            <a:extLst>
              <a:ext uri="{FF2B5EF4-FFF2-40B4-BE49-F238E27FC236}">
                <a16:creationId xmlns:a16="http://schemas.microsoft.com/office/drawing/2014/main" id="{99DCE2FC-1855-4CC6-A88E-3828E92EF1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4" t="2183" r="1573" b="2838"/>
          <a:stretch/>
        </p:blipFill>
        <p:spPr bwMode="auto">
          <a:xfrm>
            <a:off x="6339840" y="2534194"/>
            <a:ext cx="4371703" cy="337892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60241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A93141EC-1725-430F-ADEA-B0B6AA22A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3843" y="4800599"/>
            <a:ext cx="7304313" cy="1371600"/>
          </a:xfrm>
          <a:ln>
            <a:solidFill>
              <a:schemeClr val="accent1"/>
            </a:solidFill>
          </a:ln>
        </p:spPr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i="0" dirty="0">
                <a:effectLst/>
                <a:latin typeface="+mj-lt"/>
              </a:rPr>
              <a:t>Ежедневный </a:t>
            </a:r>
            <a:r>
              <a:rPr lang="ru-RU" i="0" dirty="0" err="1">
                <a:effectLst/>
                <a:latin typeface="+mj-lt"/>
              </a:rPr>
              <a:t>cron</a:t>
            </a:r>
            <a:r>
              <a:rPr lang="ru-RU" i="0" dirty="0">
                <a:effectLst/>
                <a:latin typeface="+mj-lt"/>
              </a:rPr>
              <a:t>-скрипт</a:t>
            </a:r>
            <a:r>
              <a:rPr lang="en-US" dirty="0">
                <a:latin typeface="+mj-lt"/>
              </a:rPr>
              <a:t>:</a:t>
            </a:r>
            <a:r>
              <a:rPr lang="ru-RU" i="0" dirty="0">
                <a:effectLst/>
                <a:latin typeface="+mj-lt"/>
              </a:rPr>
              <a:t> </a:t>
            </a:r>
            <a:r>
              <a:rPr lang="ru-RU" i="1" dirty="0" err="1">
                <a:effectLst/>
                <a:latin typeface="+mj-lt"/>
              </a:rPr>
              <a:t>pg_dump</a:t>
            </a:r>
            <a:r>
              <a:rPr lang="ru-RU" i="1" dirty="0">
                <a:effectLst/>
                <a:latin typeface="+mj-lt"/>
              </a:rPr>
              <a:t> </a:t>
            </a:r>
            <a:r>
              <a:rPr lang="ru-RU" i="0" dirty="0">
                <a:effectLst/>
                <a:latin typeface="+mj-lt"/>
              </a:rPr>
              <a:t>в </a:t>
            </a:r>
            <a:r>
              <a:rPr lang="ru-RU" i="1" dirty="0" err="1">
                <a:effectLst/>
                <a:latin typeface="+mj-lt"/>
              </a:rPr>
              <a:t>volume</a:t>
            </a:r>
            <a:endParaRPr lang="ru-RU" i="1" dirty="0">
              <a:effectLst/>
              <a:latin typeface="+mj-lt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i="0" dirty="0">
                <a:effectLst/>
                <a:latin typeface="+mj-lt"/>
              </a:rPr>
              <a:t>Автоматическое восстановление через </a:t>
            </a:r>
            <a:r>
              <a:rPr lang="ru-RU" i="1" dirty="0" err="1">
                <a:effectLst/>
                <a:latin typeface="+mj-lt"/>
              </a:rPr>
              <a:t>Docker</a:t>
            </a:r>
            <a:r>
              <a:rPr lang="ru-RU" i="0" dirty="0">
                <a:effectLst/>
                <a:latin typeface="+mj-lt"/>
              </a:rPr>
              <a:t>-скрипт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i="0" dirty="0">
                <a:effectLst/>
                <a:latin typeface="+mj-lt"/>
              </a:rPr>
              <a:t>Хранение 7 последних бэкапов</a:t>
            </a:r>
          </a:p>
          <a:p>
            <a:pPr marL="45720" indent="0">
              <a:buNone/>
            </a:pPr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2C4BE86F-1591-4609-BE5F-96498A874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ln>
            <a:solidFill>
              <a:schemeClr val="accent1"/>
            </a:solidFill>
          </a:ln>
        </p:spPr>
        <p:txBody>
          <a:bodyPr/>
          <a:lstStyle/>
          <a:p>
            <a:pPr algn="ctr"/>
            <a:r>
              <a:rPr lang="ru-RU" b="1" dirty="0"/>
              <a:t>Резервное копирование базы данных</a:t>
            </a:r>
          </a:p>
        </p:txBody>
      </p:sp>
      <p:pic>
        <p:nvPicPr>
          <p:cNvPr id="7170" name="Picture 2" descr="Выполнение заданий по Cron">
            <a:extLst>
              <a:ext uri="{FF2B5EF4-FFF2-40B4-BE49-F238E27FC236}">
                <a16:creationId xmlns:a16="http://schemas.microsoft.com/office/drawing/2014/main" id="{A67DB0B6-944A-4526-BD73-1096441ABF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2936" y="2371452"/>
            <a:ext cx="3701806" cy="202365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0535C7C-6DC7-41EA-BB44-0F2F44108345}"/>
              </a:ext>
            </a:extLst>
          </p:cNvPr>
          <p:cNvSpPr txBox="1"/>
          <p:nvPr/>
        </p:nvSpPr>
        <p:spPr>
          <a:xfrm>
            <a:off x="5881838" y="3060113"/>
            <a:ext cx="4283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+</a:t>
            </a:r>
            <a:endParaRPr lang="ru-RU" sz="3600" b="1" dirty="0">
              <a:solidFill>
                <a:schemeClr val="accent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A48137-ABC4-4035-BADB-30B42BB7E6E6}"/>
              </a:ext>
            </a:extLst>
          </p:cNvPr>
          <p:cNvSpPr txBox="1"/>
          <p:nvPr/>
        </p:nvSpPr>
        <p:spPr>
          <a:xfrm>
            <a:off x="6648787" y="3105834"/>
            <a:ext cx="35509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docker exec</a:t>
            </a: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 –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t &gt; </a:t>
            </a:r>
            <a:r>
              <a:rPr lang="en-US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dump.sql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docker exec –</a:t>
            </a:r>
            <a:r>
              <a:rPr lang="en-US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i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&lt; </a:t>
            </a:r>
            <a:r>
              <a:rPr lang="en-US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dump.sql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9ECB69-AC1D-4688-8990-8CE6B43717A8}"/>
              </a:ext>
            </a:extLst>
          </p:cNvPr>
          <p:cNvSpPr txBox="1"/>
          <p:nvPr/>
        </p:nvSpPr>
        <p:spPr>
          <a:xfrm>
            <a:off x="11495314" y="6235338"/>
            <a:ext cx="4513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9</a:t>
            </a:r>
            <a:endParaRPr lang="ru-RU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50585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2C4BE86F-1591-4609-BE5F-96498A874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240" y="359781"/>
            <a:ext cx="9875520" cy="1238030"/>
          </a:xfrm>
          <a:ln>
            <a:solidFill>
              <a:schemeClr val="accent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Реализация </a:t>
            </a:r>
            <a:r>
              <a:rPr lang="en-US" b="1" dirty="0"/>
              <a:t>API</a:t>
            </a:r>
            <a:r>
              <a:rPr lang="ru-RU" b="1" dirty="0"/>
              <a:t> для взаимодействия с базой данных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8A13868-78C8-471A-9B45-24D2F8F9AD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59" y="5260188"/>
            <a:ext cx="5704115" cy="98821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5D59006-CE2A-4705-8BB6-1EBF755B88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9816" y="5449450"/>
            <a:ext cx="3839111" cy="60968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5211953-8D45-4E3A-A546-687757CC90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9772" y="1847629"/>
            <a:ext cx="4846502" cy="316274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DD7276F6-DEC0-49B4-B12E-E716C17C30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038" y="2948404"/>
            <a:ext cx="1045449" cy="1238031"/>
          </a:xfrm>
          <a:prstGeom prst="rect">
            <a:avLst/>
          </a:prstGeom>
        </p:spPr>
      </p:pic>
      <p:pic>
        <p:nvPicPr>
          <p:cNvPr id="13" name="Picture 10" descr="Docker Logo, symbol, meaning, history, PNG, brand">
            <a:extLst>
              <a:ext uri="{FF2B5EF4-FFF2-40B4-BE49-F238E27FC236}">
                <a16:creationId xmlns:a16="http://schemas.microsoft.com/office/drawing/2014/main" id="{1832E364-02FA-48F4-9954-3C18A7CDD5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20" r="21803" b="31783"/>
          <a:stretch/>
        </p:blipFill>
        <p:spPr bwMode="auto">
          <a:xfrm>
            <a:off x="1584850" y="3681338"/>
            <a:ext cx="411637" cy="290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B53332F0-0828-4DC8-B961-5F77AC242B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27965" y="2860826"/>
            <a:ext cx="1209163" cy="1480886"/>
          </a:xfrm>
          <a:prstGeom prst="rect">
            <a:avLst/>
          </a:prstGeom>
        </p:spPr>
      </p:pic>
      <p:pic>
        <p:nvPicPr>
          <p:cNvPr id="6146" name="Picture 2" descr="Front-end concept icon. Software development kit idea thin line ...">
            <a:extLst>
              <a:ext uri="{FF2B5EF4-FFF2-40B4-BE49-F238E27FC236}">
                <a16:creationId xmlns:a16="http://schemas.microsoft.com/office/drawing/2014/main" id="{0E250148-9F77-402E-8976-2C8A85DCCB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4655" y="2679878"/>
            <a:ext cx="1687504" cy="16875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17FD2325-253F-4966-9810-DC8A78C03A72}"/>
              </a:ext>
            </a:extLst>
          </p:cNvPr>
          <p:cNvCxnSpPr/>
          <p:nvPr/>
        </p:nvCxnSpPr>
        <p:spPr>
          <a:xfrm>
            <a:off x="2107475" y="3607092"/>
            <a:ext cx="3831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1E050B87-E9A6-45EF-9AE2-63C1ED8B3E67}"/>
              </a:ext>
            </a:extLst>
          </p:cNvPr>
          <p:cNvCxnSpPr>
            <a:cxnSpLocks/>
          </p:cNvCxnSpPr>
          <p:nvPr/>
        </p:nvCxnSpPr>
        <p:spPr>
          <a:xfrm flipH="1">
            <a:off x="2107475" y="3428999"/>
            <a:ext cx="3587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9BC01AC-92E0-4E1D-8D23-33DFE812D844}"/>
              </a:ext>
            </a:extLst>
          </p:cNvPr>
          <p:cNvCxnSpPr/>
          <p:nvPr/>
        </p:nvCxnSpPr>
        <p:spPr>
          <a:xfrm>
            <a:off x="3985305" y="3600560"/>
            <a:ext cx="3831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 стрелкой 25">
            <a:extLst>
              <a:ext uri="{FF2B5EF4-FFF2-40B4-BE49-F238E27FC236}">
                <a16:creationId xmlns:a16="http://schemas.microsoft.com/office/drawing/2014/main" id="{779C6313-1E78-40B7-B264-750DF44F52C0}"/>
              </a:ext>
            </a:extLst>
          </p:cNvPr>
          <p:cNvCxnSpPr>
            <a:cxnSpLocks/>
          </p:cNvCxnSpPr>
          <p:nvPr/>
        </p:nvCxnSpPr>
        <p:spPr>
          <a:xfrm flipH="1">
            <a:off x="3985305" y="3422467"/>
            <a:ext cx="3587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48981235-3340-4898-83C7-22F984EA54B1}"/>
              </a:ext>
            </a:extLst>
          </p:cNvPr>
          <p:cNvSpPr txBox="1"/>
          <p:nvPr/>
        </p:nvSpPr>
        <p:spPr>
          <a:xfrm>
            <a:off x="11495314" y="6235338"/>
            <a:ext cx="4513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10</a:t>
            </a:r>
            <a:endParaRPr lang="ru-RU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35185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2C4BE86F-1591-4609-BE5F-96498A874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ln>
            <a:solidFill>
              <a:schemeClr val="accent1"/>
            </a:solidFill>
          </a:ln>
        </p:spPr>
        <p:txBody>
          <a:bodyPr/>
          <a:lstStyle/>
          <a:p>
            <a:pPr algn="ctr"/>
            <a:r>
              <a:rPr lang="ru-RU" b="1" dirty="0"/>
              <a:t>Использование </a:t>
            </a:r>
            <a:r>
              <a:rPr lang="en-US" b="1" dirty="0"/>
              <a:t>DevOps-</a:t>
            </a:r>
            <a:r>
              <a:rPr lang="ru-RU" b="1" dirty="0"/>
              <a:t>практик</a:t>
            </a:r>
          </a:p>
        </p:txBody>
      </p:sp>
      <p:pic>
        <p:nvPicPr>
          <p:cNvPr id="5122" name="Picture 2" descr="What Is DevOps?">
            <a:extLst>
              <a:ext uri="{FF2B5EF4-FFF2-40B4-BE49-F238E27FC236}">
                <a16:creationId xmlns:a16="http://schemas.microsoft.com/office/drawing/2014/main" id="{71037377-3E02-446C-87FD-DC38AD539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0" y="2521257"/>
            <a:ext cx="6640190" cy="3258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Github Pixel Perfect Filled icon">
            <a:extLst>
              <a:ext uri="{FF2B5EF4-FFF2-40B4-BE49-F238E27FC236}">
                <a16:creationId xmlns:a16="http://schemas.microsoft.com/office/drawing/2014/main" id="{FAE823F5-CC9B-4F4E-826A-4C150CAFD4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0120" y="2756188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2B882ED-000B-4461-BD62-60A16B5F9FF3}"/>
              </a:ext>
            </a:extLst>
          </p:cNvPr>
          <p:cNvSpPr txBox="1"/>
          <p:nvPr/>
        </p:nvSpPr>
        <p:spPr>
          <a:xfrm>
            <a:off x="9112049" y="5194588"/>
            <a:ext cx="13745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CI/CD</a:t>
            </a:r>
            <a:endParaRPr lang="ru-RU" sz="3200" b="1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DFE840-8DB9-4910-AFA6-C98EE506838C}"/>
              </a:ext>
            </a:extLst>
          </p:cNvPr>
          <p:cNvSpPr txBox="1"/>
          <p:nvPr/>
        </p:nvSpPr>
        <p:spPr>
          <a:xfrm>
            <a:off x="11495314" y="6235338"/>
            <a:ext cx="4513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11</a:t>
            </a:r>
            <a:endParaRPr lang="ru-RU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6965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2C4BE86F-1591-4609-BE5F-96498A874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ln>
            <a:solidFill>
              <a:schemeClr val="accent1"/>
            </a:solidFill>
          </a:ln>
        </p:spPr>
        <p:txBody>
          <a:bodyPr/>
          <a:lstStyle/>
          <a:p>
            <a:pPr algn="ctr"/>
            <a:r>
              <a:rPr lang="ru-RU" b="1" dirty="0"/>
              <a:t>Результаты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6A996DE-1FE7-4211-A07A-A04A76D4C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3987" y="3328992"/>
            <a:ext cx="3326674" cy="239187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A9EB6E9-4E7E-4FCA-B96F-68E2A94DB813}"/>
              </a:ext>
            </a:extLst>
          </p:cNvPr>
          <p:cNvSpPr txBox="1"/>
          <p:nvPr/>
        </p:nvSpPr>
        <p:spPr>
          <a:xfrm>
            <a:off x="1428206" y="2567243"/>
            <a:ext cx="22119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i="0" dirty="0">
                <a:solidFill>
                  <a:schemeClr val="accent1"/>
                </a:solidFill>
                <a:effectLst/>
                <a:latin typeface="+mj-lt"/>
              </a:rPr>
              <a:t>Рабочая ИС «Нора»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630029-D83E-4BD6-9E6D-FA1F1FDC9CE5}"/>
              </a:ext>
            </a:extLst>
          </p:cNvPr>
          <p:cNvSpPr txBox="1"/>
          <p:nvPr/>
        </p:nvSpPr>
        <p:spPr>
          <a:xfrm>
            <a:off x="4876799" y="2428742"/>
            <a:ext cx="24079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i="0" dirty="0">
                <a:solidFill>
                  <a:schemeClr val="accent1"/>
                </a:solidFill>
                <a:effectLst/>
                <a:latin typeface="+mj-lt"/>
              </a:rPr>
              <a:t>Соответствие требованиям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85AD5E-04E7-4611-ABE4-D4C1491AAF92}"/>
              </a:ext>
            </a:extLst>
          </p:cNvPr>
          <p:cNvSpPr txBox="1"/>
          <p:nvPr/>
        </p:nvSpPr>
        <p:spPr>
          <a:xfrm>
            <a:off x="8521336" y="2428743"/>
            <a:ext cx="22119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accent1"/>
                </a:solidFill>
                <a:latin typeface="+mj-lt"/>
              </a:rPr>
              <a:t>Полная готовность к использованию</a:t>
            </a:r>
            <a:endParaRPr lang="ru-RU" b="1" i="0" dirty="0">
              <a:solidFill>
                <a:schemeClr val="accent1"/>
              </a:solidFill>
              <a:effectLst/>
              <a:latin typeface="+mj-lt"/>
            </a:endParaRPr>
          </a:p>
        </p:txBody>
      </p:sp>
      <p:pic>
        <p:nvPicPr>
          <p:cNvPr id="4098" name="Picture 2" descr="Яндекс ID подтвердил соответствие отраслевому стандарту защиты данных">
            <a:extLst>
              <a:ext uri="{FF2B5EF4-FFF2-40B4-BE49-F238E27FC236}">
                <a16:creationId xmlns:a16="http://schemas.microsoft.com/office/drawing/2014/main" id="{0A7C50B8-EF7A-4D1B-8DF7-1A02B865AB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4261" y="3429000"/>
            <a:ext cx="2612996" cy="191018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5CF1AA7C-70E5-45DE-AF72-C1320BAE11D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14722"/>
          <a:stretch/>
        </p:blipFill>
        <p:spPr>
          <a:xfrm>
            <a:off x="973540" y="4062240"/>
            <a:ext cx="3121307" cy="6437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4CB7508-CD1D-4760-9760-51A8ABC59788}"/>
              </a:ext>
            </a:extLst>
          </p:cNvPr>
          <p:cNvSpPr txBox="1"/>
          <p:nvPr/>
        </p:nvSpPr>
        <p:spPr>
          <a:xfrm>
            <a:off x="11495314" y="6235338"/>
            <a:ext cx="4513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12</a:t>
            </a:r>
            <a:endParaRPr lang="ru-RU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66825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53E7D360-19B1-416B-828A-E0A4B2207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Демонстрация работы проекта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22E9791-C9AA-4418-ADAF-4CAEAA0CA9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условиях «поднятия» на локальной машине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BB91CA-FCAC-435E-BAF1-B32CD515954A}"/>
              </a:ext>
            </a:extLst>
          </p:cNvPr>
          <p:cNvSpPr txBox="1"/>
          <p:nvPr/>
        </p:nvSpPr>
        <p:spPr>
          <a:xfrm>
            <a:off x="11495314" y="6235338"/>
            <a:ext cx="4513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13</a:t>
            </a:r>
            <a:endParaRPr lang="ru-RU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00680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D21866-0DBA-4F15-86E3-0CA650EF6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Заключение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72F824-817B-4239-AF4E-F08E3182FE1B}"/>
              </a:ext>
            </a:extLst>
          </p:cNvPr>
          <p:cNvSpPr txBox="1"/>
          <p:nvPr/>
        </p:nvSpPr>
        <p:spPr>
          <a:xfrm>
            <a:off x="11495314" y="6235338"/>
            <a:ext cx="4513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14</a:t>
            </a:r>
            <a:endParaRPr lang="ru-RU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13203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Какой фильм по-настоящему абсолютное кино? : r/Cinema">
            <a:extLst>
              <a:ext uri="{FF2B5EF4-FFF2-40B4-BE49-F238E27FC236}">
                <a16:creationId xmlns:a16="http://schemas.microsoft.com/office/drawing/2014/main" id="{323DB52E-95D5-4CC6-B677-37F89574DA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1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85" y="348343"/>
            <a:ext cx="11443063" cy="6174377"/>
          </a:xfrm>
          <a:prstGeom prst="rect">
            <a:avLst/>
          </a:prstGeom>
          <a:noFill/>
          <a:effectLst>
            <a:outerShdw blurRad="241300" dist="50800" dir="5400000" algn="ctr" rotWithShape="0">
              <a:srgbClr val="000000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D21866-0DBA-4F15-86E3-0CA650EF6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987" y="2752824"/>
            <a:ext cx="11098857" cy="1142867"/>
          </a:xfrm>
          <a:solidFill>
            <a:schemeClr val="bg1"/>
          </a:solidFill>
          <a:ln w="57150">
            <a:solidFill>
              <a:schemeClr val="accent1"/>
            </a:solidFill>
          </a:ln>
        </p:spPr>
        <p:txBody>
          <a:bodyPr/>
          <a:lstStyle/>
          <a:p>
            <a:r>
              <a:rPr lang="ru-RU" b="1" dirty="0"/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4053675832"/>
      </p:ext>
    </p:extLst>
  </p:cSld>
  <p:clrMapOvr>
    <a:masterClrMapping/>
  </p:clrMapOvr>
</p:sld>
</file>

<file path=ppt/theme/theme1.xml><?xml version="1.0" encoding="utf-8"?>
<a:theme xmlns:a="http://schemas.openxmlformats.org/drawingml/2006/main" name="Базис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Базис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Базис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D9D01AC2-EE7D-4E49-99EE-8E62E4E7E8A7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TM03457444[[fn=Базис]]</Template>
  <TotalTime>305</TotalTime>
  <Words>358</Words>
  <Application>Microsoft Office PowerPoint</Application>
  <PresentationFormat>Широкоэкранный</PresentationFormat>
  <Paragraphs>105</Paragraphs>
  <Slides>15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0" baseType="lpstr">
      <vt:lpstr>Arial</vt:lpstr>
      <vt:lpstr>Calibri</vt:lpstr>
      <vt:lpstr>Cascadia Code</vt:lpstr>
      <vt:lpstr>Corbel</vt:lpstr>
      <vt:lpstr>Базис</vt:lpstr>
      <vt:lpstr>Курсовая работа на тему: Система управления кинотеатром «Нора»</vt:lpstr>
      <vt:lpstr>Цель и задачи проекта</vt:lpstr>
      <vt:lpstr>Предметная область</vt:lpstr>
      <vt:lpstr>Системный анализ</vt:lpstr>
      <vt:lpstr>Используемые технологии</vt:lpstr>
      <vt:lpstr>Логическая модель базы данных</vt:lpstr>
      <vt:lpstr>Презентация PowerPoint</vt:lpstr>
      <vt:lpstr>Аналитика SQL-структуры базы данных</vt:lpstr>
      <vt:lpstr>Резервное копирование базы данных</vt:lpstr>
      <vt:lpstr>Реализация API для взаимодействия с базой данных</vt:lpstr>
      <vt:lpstr>Использование DevOps-практик</vt:lpstr>
      <vt:lpstr>Результаты</vt:lpstr>
      <vt:lpstr>Демонстрация работы проекта</vt:lpstr>
      <vt:lpstr>Заключение</vt:lpstr>
      <vt:lpstr>Спасибо за внимание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Valdermark111 Iv</dc:creator>
  <cp:lastModifiedBy>Valdermark111 Iv</cp:lastModifiedBy>
  <cp:revision>147</cp:revision>
  <dcterms:created xsi:type="dcterms:W3CDTF">2025-12-23T16:00:21Z</dcterms:created>
  <dcterms:modified xsi:type="dcterms:W3CDTF">2026-01-10T11:18:03Z</dcterms:modified>
</cp:coreProperties>
</file>